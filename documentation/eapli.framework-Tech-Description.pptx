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57"/>
  </p:notesMasterIdLst>
  <p:handoutMasterIdLst>
    <p:handoutMasterId r:id="rId58"/>
  </p:handoutMasterIdLst>
  <p:sldIdLst>
    <p:sldId id="367" r:id="rId2"/>
    <p:sldId id="417" r:id="rId3"/>
    <p:sldId id="418" r:id="rId4"/>
    <p:sldId id="419" r:id="rId5"/>
    <p:sldId id="412" r:id="rId6"/>
    <p:sldId id="445" r:id="rId7"/>
    <p:sldId id="446" r:id="rId8"/>
    <p:sldId id="375" r:id="rId9"/>
    <p:sldId id="442" r:id="rId10"/>
    <p:sldId id="381" r:id="rId11"/>
    <p:sldId id="382" r:id="rId12"/>
    <p:sldId id="383" r:id="rId13"/>
    <p:sldId id="384" r:id="rId14"/>
    <p:sldId id="385" r:id="rId15"/>
    <p:sldId id="415" r:id="rId16"/>
    <p:sldId id="377" r:id="rId17"/>
    <p:sldId id="378" r:id="rId18"/>
    <p:sldId id="444" r:id="rId19"/>
    <p:sldId id="443" r:id="rId20"/>
    <p:sldId id="434" r:id="rId21"/>
    <p:sldId id="435" r:id="rId22"/>
    <p:sldId id="436" r:id="rId23"/>
    <p:sldId id="379" r:id="rId24"/>
    <p:sldId id="380" r:id="rId25"/>
    <p:sldId id="423" r:id="rId26"/>
    <p:sldId id="430" r:id="rId27"/>
    <p:sldId id="433" r:id="rId28"/>
    <p:sldId id="431" r:id="rId29"/>
    <p:sldId id="422" r:id="rId30"/>
    <p:sldId id="424" r:id="rId31"/>
    <p:sldId id="425" r:id="rId32"/>
    <p:sldId id="426" r:id="rId33"/>
    <p:sldId id="427" r:id="rId34"/>
    <p:sldId id="428" r:id="rId35"/>
    <p:sldId id="429" r:id="rId36"/>
    <p:sldId id="399" r:id="rId37"/>
    <p:sldId id="400" r:id="rId38"/>
    <p:sldId id="409" r:id="rId39"/>
    <p:sldId id="410" r:id="rId40"/>
    <p:sldId id="411" r:id="rId41"/>
    <p:sldId id="413" r:id="rId42"/>
    <p:sldId id="347" r:id="rId43"/>
    <p:sldId id="368" r:id="rId44"/>
    <p:sldId id="335" r:id="rId45"/>
    <p:sldId id="420" r:id="rId46"/>
    <p:sldId id="439" r:id="rId47"/>
    <p:sldId id="421" r:id="rId48"/>
    <p:sldId id="437" r:id="rId49"/>
    <p:sldId id="440" r:id="rId50"/>
    <p:sldId id="438" r:id="rId51"/>
    <p:sldId id="441" r:id="rId52"/>
    <p:sldId id="414" r:id="rId53"/>
    <p:sldId id="350" r:id="rId54"/>
    <p:sldId id="351" r:id="rId55"/>
    <p:sldId id="337" r:id="rId56"/>
  </p:sldIdLst>
  <p:sldSz cx="9144000" cy="6858000" type="screen4x3"/>
  <p:notesSz cx="10234613" cy="70993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uno Silva" initials="NS" lastIdx="3" clrIdx="0"/>
  <p:cmAuthor id="1" name="Paulo Gandra de Sousa" initials="PGdS" lastIdx="17" clrIdx="1">
    <p:extLst/>
  </p:cmAuthor>
  <p:cmAuthor id="2" name="Jorge Santos" initials="AJS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066" autoAdjust="0"/>
    <p:restoredTop sz="81958" autoAdjust="0"/>
  </p:normalViewPr>
  <p:slideViewPr>
    <p:cSldViewPr>
      <p:cViewPr varScale="1">
        <p:scale>
          <a:sx n="90" d="100"/>
          <a:sy n="90" d="100"/>
        </p:scale>
        <p:origin x="222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69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6-03-25T15:40:34.930" idx="6">
    <p:pos x="10" y="10"/>
    <p:text>poderia ser atualizado para nao aparecer ExpenseType, mas de momento não é preocupante pois mostra o principio de abstract factory</p:text>
    <p:extLst>
      <p:ext uri="{C676402C-5697-4E1C-873F-D02D1690AC5C}">
        <p15:threadingInfo xmlns:p15="http://schemas.microsoft.com/office/powerpoint/2012/main" timeZoneBias="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6949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r">
              <a:defRPr sz="1200"/>
            </a:lvl1pPr>
          </a:lstStyle>
          <a:p>
            <a:fld id="{DF9BBED1-C878-4044-B70F-841416CAC1AE}" type="datetimeFigureOut">
              <a:rPr lang="en-US" smtClean="0"/>
              <a:pPr/>
              <a:t>3/18/2019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6949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r">
              <a:defRPr sz="1200"/>
            </a:lvl1pPr>
          </a:lstStyle>
          <a:p>
            <a:fld id="{D7D9A969-75A7-403D-A555-777A6053A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31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r">
              <a:defRPr sz="1400"/>
            </a:lvl1pPr>
          </a:lstStyle>
          <a:p>
            <a:fld id="{754636F6-6535-4DFB-8291-07E7DDBE6239}" type="datetimeFigureOut">
              <a:rPr lang="pt-PT" smtClean="0"/>
              <a:pPr/>
              <a:t>18/03/2019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4863" y="531813"/>
            <a:ext cx="3544887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2980" tIns="51490" rIns="102980" bIns="5149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90" cy="3194685"/>
          </a:xfrm>
          <a:prstGeom prst="rect">
            <a:avLst/>
          </a:prstGeom>
        </p:spPr>
        <p:txBody>
          <a:bodyPr vert="horz" lIns="102980" tIns="51490" rIns="102980" bIns="5149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9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r">
              <a:defRPr sz="1400"/>
            </a:lvl1pPr>
          </a:lstStyle>
          <a:p>
            <a:fld id="{54F76911-F589-44E9-8155-61F0472246BF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142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11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6806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34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Necessidade de suportar duas persistências</a:t>
            </a:r>
          </a:p>
          <a:p>
            <a:pPr lvl="1"/>
            <a:r>
              <a:rPr lang="pt-PT" dirty="0"/>
              <a:t>Em memória</a:t>
            </a:r>
          </a:p>
          <a:p>
            <a:pPr lvl="1"/>
            <a:r>
              <a:rPr lang="pt-PT" dirty="0"/>
              <a:t>BD usando ORM JPA</a:t>
            </a:r>
          </a:p>
          <a:p>
            <a:pPr lvl="1"/>
            <a:r>
              <a:rPr lang="pt-PT" dirty="0"/>
              <a:t>Esconder este pormenor do restante código</a:t>
            </a:r>
          </a:p>
          <a:p>
            <a:pPr marL="365760" lvl="1" indent="0">
              <a:buNone/>
            </a:pPr>
            <a:endParaRPr lang="pt-PT" dirty="0"/>
          </a:p>
          <a:p>
            <a:pPr lvl="1"/>
            <a:r>
              <a:rPr lang="pt-PT" dirty="0"/>
              <a:t>Vários repositórios (um por agregado)</a:t>
            </a:r>
          </a:p>
          <a:p>
            <a:pPr lvl="1"/>
            <a:r>
              <a:rPr lang="pt-PT" dirty="0"/>
              <a:t>Fábrica para os repositórios de acordo com tipo de persistência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Fábrica de fábricas para esconder lógica de criação de qual o tipo de persistência a usar</a:t>
            </a:r>
          </a:p>
          <a:p>
            <a:pPr lvl="1"/>
            <a:endParaRPr lang="pt-PT" dirty="0"/>
          </a:p>
          <a:p>
            <a:pPr lvl="1"/>
            <a:r>
              <a:rPr lang="pt-PT" dirty="0" err="1"/>
              <a:t>Abstract</a:t>
            </a:r>
            <a:r>
              <a:rPr lang="pt-PT" dirty="0"/>
              <a:t> </a:t>
            </a:r>
            <a:r>
              <a:rPr lang="pt-PT" dirty="0" err="1"/>
              <a:t>Factory</a:t>
            </a:r>
            <a:r>
              <a:rPr lang="pt-PT" dirty="0"/>
              <a:t> </a:t>
            </a:r>
            <a:r>
              <a:rPr lang="pt-PT" dirty="0" err="1"/>
              <a:t>Pattern</a:t>
            </a:r>
            <a:endParaRPr lang="pt-PT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35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Each repository is defined by an interface</a:t>
            </a:r>
            <a:r>
              <a:rPr lang="en-GB" baseline="0" dirty="0"/>
              <a:t> that is the well known contract to the rest of the application. We will have one repository per domain aggregate.</a:t>
            </a:r>
          </a:p>
          <a:p>
            <a:r>
              <a:rPr lang="en-GB" baseline="0" dirty="0"/>
              <a:t>Since we have interfaces we need a factory to hide the details of the concrete object to create. E.g., </a:t>
            </a:r>
            <a:r>
              <a:rPr lang="en-GB" baseline="0" dirty="0" err="1"/>
              <a:t>ExpenseTypeRepositoryFactory</a:t>
            </a:r>
            <a:endParaRPr lang="en-GB" baseline="0" dirty="0"/>
          </a:p>
          <a:p>
            <a:r>
              <a:rPr lang="en-GB" baseline="0" dirty="0"/>
              <a:t>Since we have several repositories we group their creation in a single factory (i.e., </a:t>
            </a:r>
            <a:r>
              <a:rPr lang="en-GB" baseline="0" dirty="0" err="1"/>
              <a:t>RepositoryFactory</a:t>
            </a:r>
            <a:r>
              <a:rPr lang="en-GB" baseline="0" dirty="0"/>
              <a:t>) to avoid duplication of code, i.e., each factory would have the decision code to choose which implementation to create. This way the </a:t>
            </a:r>
            <a:r>
              <a:rPr lang="en-GB" baseline="0" dirty="0" err="1"/>
              <a:t>JpaFactory</a:t>
            </a:r>
            <a:r>
              <a:rPr lang="en-GB" baseline="0" dirty="0"/>
              <a:t> knows it only creates </a:t>
            </a:r>
            <a:r>
              <a:rPr lang="en-GB" baseline="0" dirty="0" err="1"/>
              <a:t>Jpa</a:t>
            </a:r>
            <a:r>
              <a:rPr lang="en-GB" baseline="0"/>
              <a:t> implementations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304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675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Extrato</a:t>
            </a:r>
            <a:r>
              <a:rPr lang="en-GB" dirty="0"/>
              <a:t> </a:t>
            </a:r>
            <a:r>
              <a:rPr lang="en-GB" dirty="0" err="1"/>
              <a:t>faltam</a:t>
            </a:r>
            <a:r>
              <a:rPr lang="en-GB" dirty="0"/>
              <a:t> </a:t>
            </a:r>
            <a:r>
              <a:rPr lang="en-GB" dirty="0" err="1"/>
              <a:t>aqui</a:t>
            </a:r>
            <a:r>
              <a:rPr lang="en-GB" dirty="0"/>
              <a:t> </a:t>
            </a:r>
            <a:r>
              <a:rPr lang="en-GB" dirty="0" err="1"/>
              <a:t>alguns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. </a:t>
            </a:r>
            <a:r>
              <a:rPr lang="en-GB" dirty="0" err="1"/>
              <a:t>Devem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o </a:t>
            </a:r>
            <a:r>
              <a:rPr lang="en-GB" dirty="0" err="1"/>
              <a:t>código</a:t>
            </a:r>
            <a:r>
              <a:rPr lang="en-GB" dirty="0"/>
              <a:t> </a:t>
            </a:r>
            <a:r>
              <a:rPr lang="en-GB" dirty="0" err="1"/>
              <a:t>fonte</a:t>
            </a:r>
            <a:r>
              <a:rPr lang="en-GB" dirty="0"/>
              <a:t> </a:t>
            </a:r>
            <a:r>
              <a:rPr lang="en-GB" dirty="0" err="1"/>
              <a:t>completo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1195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222AE-4D74-4601-B435-B179E428ACD9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259044"/>
            <a:ext cx="9144000" cy="45719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304763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1636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3643B1D-A57E-46BD-9617-845A2C51AEF7}" type="datetime1">
              <a:rPr lang="pt-PT" smtClean="0"/>
              <a:pPr/>
              <a:t>18/03/2019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ransition spd="med">
    <p:fade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isep.ipp.pt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EAPLI Framework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21942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it 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Standard application framework developed in the scope of the course unit “</a:t>
            </a:r>
            <a:r>
              <a:rPr lang="en-GB" dirty="0" err="1"/>
              <a:t>Engenharia</a:t>
            </a:r>
            <a:r>
              <a:rPr lang="en-GB" dirty="0"/>
              <a:t> de </a:t>
            </a:r>
            <a:r>
              <a:rPr lang="en-GB" dirty="0" err="1"/>
              <a:t>Aplicações</a:t>
            </a:r>
            <a:r>
              <a:rPr lang="en-GB" dirty="0"/>
              <a:t>” at </a:t>
            </a:r>
            <a:r>
              <a:rPr lang="en-GB" dirty="0" err="1"/>
              <a:t>Instituto</a:t>
            </a:r>
            <a:r>
              <a:rPr lang="en-GB" dirty="0"/>
              <a:t> Superior de </a:t>
            </a:r>
            <a:r>
              <a:rPr lang="en-GB" dirty="0" err="1"/>
              <a:t>Engenharia</a:t>
            </a:r>
            <a:r>
              <a:rPr lang="en-GB" dirty="0"/>
              <a:t> do Porto </a:t>
            </a:r>
            <a:r>
              <a:rPr lang="en-GB" dirty="0">
                <a:hlinkClick r:id="rId2"/>
              </a:rPr>
              <a:t>http://www.isep.ipp.pt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172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Components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Core</a:t>
            </a:r>
          </a:p>
          <a:p>
            <a:pPr lvl="1"/>
            <a:r>
              <a:rPr lang="en-GB" dirty="0"/>
              <a:t>Domain driven design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Utilities</a:t>
            </a:r>
          </a:p>
          <a:p>
            <a:pPr lvl="1"/>
            <a:r>
              <a:rPr lang="en-GB" dirty="0"/>
              <a:t>Simple Console Presentation framework</a:t>
            </a:r>
          </a:p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GB" dirty="0"/>
          </a:p>
          <a:p>
            <a:r>
              <a:rPr lang="en-GB" dirty="0"/>
              <a:t>Infrastructure Pub/Sub</a:t>
            </a:r>
          </a:p>
          <a:p>
            <a:pPr lvl="1"/>
            <a:r>
              <a:rPr lang="en-GB" dirty="0"/>
              <a:t>Event publishing and dispatching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5579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Dependencies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Java 1.8+</a:t>
            </a:r>
          </a:p>
          <a:p>
            <a:r>
              <a:rPr lang="en-GB" dirty="0"/>
              <a:t>Apache Commons Logging</a:t>
            </a:r>
          </a:p>
          <a:p>
            <a:r>
              <a:rPr lang="en-GB" dirty="0"/>
              <a:t>JPA</a:t>
            </a:r>
          </a:p>
          <a:p>
            <a:r>
              <a:rPr lang="en-GB" dirty="0"/>
              <a:t>Spring Data JPA</a:t>
            </a:r>
          </a:p>
          <a:p>
            <a:r>
              <a:rPr lang="en-GB" dirty="0"/>
              <a:t>Spring Framework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7458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9007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DDD pattern interfaces</a:t>
            </a:r>
          </a:p>
          <a:p>
            <a:pPr lvl="1"/>
            <a:r>
              <a:rPr lang="en-GB" dirty="0" err="1"/>
              <a:t>ValueObject</a:t>
            </a:r>
            <a:endParaRPr lang="en-GB" dirty="0"/>
          </a:p>
          <a:p>
            <a:pPr lvl="1"/>
            <a:r>
              <a:rPr lang="en-GB" dirty="0" err="1"/>
              <a:t>DomainEntity</a:t>
            </a:r>
            <a:endParaRPr lang="en-GB" dirty="0"/>
          </a:p>
          <a:p>
            <a:pPr lvl="1"/>
            <a:r>
              <a:rPr lang="en-GB" dirty="0" err="1"/>
              <a:t>AggregateRoot</a:t>
            </a:r>
            <a:endParaRPr lang="en-GB" dirty="0"/>
          </a:p>
          <a:p>
            <a:endParaRPr lang="en-GB" dirty="0"/>
          </a:p>
          <a:p>
            <a:r>
              <a:rPr lang="en-GB" dirty="0"/>
              <a:t>Domain objects</a:t>
            </a:r>
          </a:p>
          <a:p>
            <a:pPr lvl="1"/>
            <a:r>
              <a:rPr lang="en-GB" dirty="0"/>
              <a:t>Money</a:t>
            </a:r>
          </a:p>
          <a:p>
            <a:pPr lvl="1"/>
            <a:r>
              <a:rPr lang="en-GB" dirty="0"/>
              <a:t>Range</a:t>
            </a:r>
          </a:p>
          <a:p>
            <a:pPr lvl="1"/>
            <a:r>
              <a:rPr lang="en-GB" dirty="0"/>
              <a:t>Time period</a:t>
            </a:r>
          </a:p>
          <a:p>
            <a:pPr lvl="1"/>
            <a:r>
              <a:rPr lang="en-GB" dirty="0"/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6</a:t>
            </a:fld>
            <a:endParaRPr lang="pt-P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15CBF1-F6D3-44B1-A754-F452DB237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36" y="188640"/>
            <a:ext cx="3780420" cy="66067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43624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patterns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Actions</a:t>
            </a:r>
          </a:p>
          <a:p>
            <a:pPr lvl="1"/>
            <a:r>
              <a:rPr lang="en-GB" dirty="0" err="1"/>
              <a:t>a.k.a</a:t>
            </a:r>
            <a:r>
              <a:rPr lang="en-GB" dirty="0"/>
              <a:t> Command</a:t>
            </a:r>
          </a:p>
          <a:p>
            <a:r>
              <a:rPr lang="en-GB" dirty="0"/>
              <a:t>Memento</a:t>
            </a:r>
          </a:p>
          <a:p>
            <a:r>
              <a:rPr lang="en-GB" dirty="0"/>
              <a:t>Visitor</a:t>
            </a:r>
          </a:p>
          <a:p>
            <a:r>
              <a:rPr lang="en-GB" dirty="0"/>
              <a:t>DTO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7</a:t>
            </a:fld>
            <a:endParaRPr lang="pt-PT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2F783B-EC76-42E8-A7D7-BF6895623C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6901"/>
          <a:stretch/>
        </p:blipFill>
        <p:spPr>
          <a:xfrm>
            <a:off x="5100099" y="1408176"/>
            <a:ext cx="3471229" cy="5013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53729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Console</a:t>
            </a:r>
          </a:p>
          <a:p>
            <a:pPr lvl="1"/>
            <a:r>
              <a:rPr lang="en-GB" dirty="0"/>
              <a:t>Helper console reading functions</a:t>
            </a:r>
          </a:p>
          <a:p>
            <a:r>
              <a:rPr lang="en-GB" dirty="0" err="1"/>
              <a:t>DateTime</a:t>
            </a:r>
            <a:endParaRPr lang="en-GB" dirty="0"/>
          </a:p>
          <a:p>
            <a:pPr lvl="1"/>
            <a:r>
              <a:rPr lang="en-GB" dirty="0"/>
              <a:t>Simplifies manipulation of dates and times thru java Calendar</a:t>
            </a:r>
          </a:p>
          <a:p>
            <a:r>
              <a:rPr lang="en-GB" dirty="0"/>
              <a:t>Files</a:t>
            </a:r>
          </a:p>
          <a:p>
            <a:pPr lvl="1"/>
            <a:r>
              <a:rPr lang="en-GB" dirty="0"/>
              <a:t>File manipulation helper</a:t>
            </a:r>
          </a:p>
          <a:p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Arrays</a:t>
            </a:r>
          </a:p>
          <a:p>
            <a:r>
              <a:rPr lang="en-GB" dirty="0"/>
              <a:t>Collections</a:t>
            </a:r>
          </a:p>
          <a:p>
            <a:r>
              <a:rPr lang="en-GB" dirty="0" err="1"/>
              <a:t>Comparables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HashCoder</a:t>
            </a:r>
            <a:endParaRPr lang="en-GB" dirty="0"/>
          </a:p>
          <a:p>
            <a:pPr lvl="1"/>
            <a:r>
              <a:rPr lang="en-GB" dirty="0"/>
              <a:t>Simplifies generation oh a class’ hash code</a:t>
            </a:r>
          </a:p>
          <a:p>
            <a:endParaRPr lang="en-GB" dirty="0"/>
          </a:p>
          <a:p>
            <a:r>
              <a:rPr lang="en-GB" dirty="0" err="1"/>
              <a:t>NumberGenerator</a:t>
            </a:r>
            <a:endParaRPr lang="en-GB" dirty="0"/>
          </a:p>
          <a:p>
            <a:pPr lvl="1"/>
            <a:r>
              <a:rPr lang="en-GB" dirty="0"/>
              <a:t>Simple API for Java Random class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43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Strings</a:t>
            </a:r>
          </a:p>
          <a:p>
            <a:pPr lvl="1"/>
            <a:r>
              <a:rPr lang="en-GB" dirty="0"/>
              <a:t>String manipulation</a:t>
            </a:r>
          </a:p>
          <a:p>
            <a:r>
              <a:rPr lang="en-GB" dirty="0" err="1"/>
              <a:t>StringMixin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Math</a:t>
            </a:r>
          </a:p>
          <a:p>
            <a:pPr lvl="1"/>
            <a:r>
              <a:rPr lang="en-GB" dirty="0"/>
              <a:t>Sample math utility</a:t>
            </a:r>
          </a:p>
          <a:p>
            <a:pPr lvl="1"/>
            <a:endParaRPr lang="en-GB" dirty="0"/>
          </a:p>
          <a:p>
            <a:r>
              <a:rPr lang="en-GB" dirty="0" err="1"/>
              <a:t>StringPredicates</a:t>
            </a:r>
            <a:endParaRPr lang="en-GB" dirty="0"/>
          </a:p>
          <a:p>
            <a:pPr lvl="1"/>
            <a:r>
              <a:rPr lang="en-GB" dirty="0"/>
              <a:t>Predicates to test strings</a:t>
            </a:r>
          </a:p>
          <a:p>
            <a:r>
              <a:rPr lang="en-GB" dirty="0" err="1"/>
              <a:t>NumberPredicates</a:t>
            </a:r>
            <a:endParaRPr lang="en-GB" dirty="0"/>
          </a:p>
          <a:p>
            <a:pPr lvl="1"/>
            <a:r>
              <a:rPr lang="en-GB" dirty="0"/>
              <a:t>Predicates to test primitive numbers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/>
              <a:t>PreConditions</a:t>
            </a:r>
            <a:endParaRPr lang="en-GB" dirty="0"/>
          </a:p>
          <a:p>
            <a:pPr lvl="1"/>
            <a:r>
              <a:rPr lang="en-GB" sz="2000" dirty="0"/>
              <a:t>Validates pre conditions on methods, usually the method’s parameters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InvalidArgumentException</a:t>
            </a:r>
            <a:endParaRPr lang="en-GB" sz="2000" dirty="0"/>
          </a:p>
          <a:p>
            <a:r>
              <a:rPr lang="en-GB" dirty="0"/>
              <a:t>Invariants</a:t>
            </a:r>
          </a:p>
          <a:p>
            <a:pPr lvl="1"/>
            <a:r>
              <a:rPr lang="en-GB" sz="2000" dirty="0"/>
              <a:t>Validates internal consistency of an object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InvalidStateException</a:t>
            </a:r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8182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195887" y="2451894"/>
            <a:ext cx="2943225" cy="32670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10</a:t>
            </a:fld>
            <a:endParaRPr lang="pt-P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40" y="1376772"/>
            <a:ext cx="3636404" cy="5458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00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11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5" y="1499769"/>
            <a:ext cx="7794190" cy="525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31580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12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29215"/>
          <a:stretch/>
        </p:blipFill>
        <p:spPr>
          <a:xfrm>
            <a:off x="793" y="0"/>
            <a:ext cx="9181020" cy="70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8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13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31875"/>
          <a:stretch/>
        </p:blipFill>
        <p:spPr>
          <a:xfrm>
            <a:off x="14869" y="12576"/>
            <a:ext cx="9129640" cy="725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20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14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14" y="68745"/>
            <a:ext cx="9088972" cy="6720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14559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Persistence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1246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  <a:p>
            <a:pPr lvl="1"/>
            <a:r>
              <a:rPr lang="en-GB" dirty="0"/>
              <a:t>Repository interfaces</a:t>
            </a:r>
          </a:p>
          <a:p>
            <a:r>
              <a:rPr lang="en-GB" dirty="0"/>
              <a:t>Implementations</a:t>
            </a:r>
          </a:p>
          <a:p>
            <a:pPr lvl="1"/>
            <a:r>
              <a:rPr lang="en-GB" dirty="0"/>
              <a:t>JPA</a:t>
            </a:r>
          </a:p>
          <a:p>
            <a:pPr lvl="1"/>
            <a:r>
              <a:rPr lang="en-GB" dirty="0" err="1"/>
              <a:t>InMemory</a:t>
            </a:r>
            <a:endParaRPr lang="en-GB" dirty="0"/>
          </a:p>
          <a:p>
            <a:pPr lvl="1"/>
            <a:r>
              <a:rPr lang="en-GB" dirty="0"/>
              <a:t>Spring Data JPA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385" y="1712366"/>
            <a:ext cx="442912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57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DataRepository</a:t>
            </a:r>
            <a:endParaRPr lang="en-GB" dirty="0"/>
          </a:p>
          <a:p>
            <a:r>
              <a:rPr lang="en-GB" dirty="0" err="1"/>
              <a:t>TransactionalContext</a:t>
            </a:r>
            <a:endParaRPr lang="en-GB" dirty="0"/>
          </a:p>
          <a:p>
            <a:endParaRPr lang="en-GB" dirty="0"/>
          </a:p>
          <a:p>
            <a:r>
              <a:rPr lang="en-GB" dirty="0"/>
              <a:t>Interfaces for describing repository functionalities and transactions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7766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9B018-F17E-4F2D-9186-89B9F29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18</a:t>
            </a:fld>
            <a:endParaRPr lang="pt-PT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5BB0C27D-AE00-4567-8F81-788604A6FAAE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514"/>
          <a:stretch/>
        </p:blipFill>
        <p:spPr>
          <a:xfrm>
            <a:off x="-1" y="0"/>
            <a:ext cx="6007439" cy="68579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943E3325-147D-40DA-BB73-6C6BDCA69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220" y="2205675"/>
            <a:ext cx="2134580" cy="25885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89655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AF113-467E-4548-9A21-B26EA56B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PT"/>
          </a:p>
        </p:txBody>
      </p:sp>
      <p:pic>
        <p:nvPicPr>
          <p:cNvPr id="6" name="Content Placeholder 5" descr="A screenshot of a map&#10;&#10;Description automatically generated">
            <a:extLst>
              <a:ext uri="{FF2B5EF4-FFF2-40B4-BE49-F238E27FC236}">
                <a16:creationId xmlns:a16="http://schemas.microsoft.com/office/drawing/2014/main" id="{432C80CB-4453-43C7-AD68-28D9351AD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98626"/>
            <a:ext cx="7917837" cy="46259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420F3-2C07-4FBF-AFBB-C7545706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71026656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Controller needs to access the repositories</a:t>
            </a:r>
          </a:p>
          <a:p>
            <a:r>
              <a:rPr lang="en-GB" dirty="0"/>
              <a:t>But we have three repository implementations</a:t>
            </a:r>
          </a:p>
          <a:p>
            <a:pPr lvl="1"/>
            <a:r>
              <a:rPr lang="en-GB" dirty="0"/>
              <a:t>In memory</a:t>
            </a:r>
          </a:p>
          <a:p>
            <a:pPr lvl="1"/>
            <a:r>
              <a:rPr lang="en-GB" dirty="0"/>
              <a:t>Relational database thru JPA</a:t>
            </a:r>
          </a:p>
          <a:p>
            <a:pPr lvl="1"/>
            <a:r>
              <a:rPr lang="en-GB" dirty="0"/>
              <a:t>Relational database thru </a:t>
            </a:r>
            <a:r>
              <a:rPr lang="en-GB" dirty="0" err="1"/>
              <a:t>SpringData</a:t>
            </a:r>
            <a:endParaRPr lang="en-GB" dirty="0"/>
          </a:p>
          <a:p>
            <a:r>
              <a:rPr lang="en-GB" dirty="0"/>
              <a:t>Hide persistence details from rest of the code</a:t>
            </a:r>
          </a:p>
          <a:p>
            <a:pPr lvl="1"/>
            <a:r>
              <a:rPr lang="en-GB" dirty="0"/>
              <a:t>Interfaces</a:t>
            </a:r>
          </a:p>
          <a:p>
            <a:pPr lvl="1"/>
            <a:r>
              <a:rPr lang="en-GB" dirty="0"/>
              <a:t>Dependency injection or Factories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3766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21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0648"/>
            <a:ext cx="6912767" cy="633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602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58928"/>
          <a:stretch/>
        </p:blipFill>
        <p:spPr>
          <a:xfrm>
            <a:off x="143508" y="1092401"/>
            <a:ext cx="8676964" cy="1260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2534438"/>
            <a:ext cx="8925985" cy="1987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53" y="4689140"/>
            <a:ext cx="8899668" cy="2109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1818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memory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InMemoryBaseRepository</a:t>
            </a:r>
            <a:endParaRPr lang="en-GB" dirty="0"/>
          </a:p>
          <a:p>
            <a:r>
              <a:rPr lang="en-GB" dirty="0" err="1"/>
              <a:t>InMemoryBaseRepositorywithLongPK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For pedagogical testing purposes only!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043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err="1"/>
              <a:t>JpaBaseRepository</a:t>
            </a:r>
            <a:endParaRPr lang="en-GB" dirty="0"/>
          </a:p>
          <a:p>
            <a:pPr lvl="1"/>
            <a:r>
              <a:rPr lang="en-GB" dirty="0"/>
              <a:t>Generic repository implementation that expects the entity manager factory to be injected by a container, e.g., web server</a:t>
            </a:r>
          </a:p>
          <a:p>
            <a:r>
              <a:rPr lang="en-GB" dirty="0" err="1"/>
              <a:t>JpaNotRunningInContainerBaseRepository</a:t>
            </a:r>
            <a:endParaRPr lang="en-GB" dirty="0"/>
          </a:p>
          <a:p>
            <a:pPr lvl="1"/>
            <a:r>
              <a:rPr lang="en-GB" dirty="0"/>
              <a:t>For scenarios where the code is not running in a container but transaction is managed by the outside, e.g., controller</a:t>
            </a:r>
          </a:p>
          <a:p>
            <a:r>
              <a:rPr lang="en-GB" dirty="0" err="1"/>
              <a:t>JpaTransactionalBaseRepository</a:t>
            </a:r>
            <a:endParaRPr lang="en-GB" dirty="0"/>
          </a:p>
          <a:p>
            <a:pPr lvl="1"/>
            <a:r>
              <a:rPr lang="en-GB" dirty="0"/>
              <a:t>For scenarios not running in a container but transactions are created and committed by each repository method; the connection is also closed automatically in each method.</a:t>
            </a:r>
          </a:p>
          <a:p>
            <a:r>
              <a:rPr lang="en-GB" dirty="0" err="1"/>
              <a:t>JpaAutoTxRepository</a:t>
            </a:r>
            <a:endParaRPr lang="en-GB" dirty="0"/>
          </a:p>
          <a:p>
            <a:pPr lvl="1"/>
            <a:r>
              <a:rPr lang="en-GB" dirty="0"/>
              <a:t>Dual behaviour to either have outside transactional control or explicit transaction in each method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91364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Data 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9903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77" y="0"/>
            <a:ext cx="3887924" cy="79250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79368" y="2312876"/>
            <a:ext cx="3125080" cy="1476164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ounded Rectangle 9"/>
          <p:cNvSpPr/>
          <p:nvPr/>
        </p:nvSpPr>
        <p:spPr>
          <a:xfrm>
            <a:off x="5446248" y="6013237"/>
            <a:ext cx="3125080" cy="548111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2" y="1863700"/>
            <a:ext cx="4856579" cy="4085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1144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applicationContext.xml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17614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applicationContext-persistence.xml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72795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Preferably use a container and managed transaction context, e.g., spring</a:t>
            </a:r>
          </a:p>
          <a:p>
            <a:endParaRPr lang="en-GB" dirty="0"/>
          </a:p>
          <a:p>
            <a:r>
              <a:rPr lang="en-GB" dirty="0"/>
              <a:t>Optionally control the transaction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92329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#1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b="1" dirty="0"/>
              <a:t>Managed repositories</a:t>
            </a:r>
            <a:r>
              <a:rPr lang="pt-PT" dirty="0"/>
              <a:t>, e.g., Spring Framework</a:t>
            </a:r>
          </a:p>
          <a:p>
            <a:pPr lvl="1"/>
            <a:r>
              <a:rPr lang="pt-PT" dirty="0"/>
              <a:t>Spring will load the repositories</a:t>
            </a:r>
          </a:p>
          <a:p>
            <a:pPr lvl="1"/>
            <a:r>
              <a:rPr lang="pt-PT" dirty="0"/>
              <a:t>Spring will control the transactional context</a:t>
            </a:r>
          </a:p>
          <a:p>
            <a:pPr lvl="1"/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54409186"/>
      </p:ext>
    </p:extLst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2800" dirty="0"/>
              <a:t>All JPA repositories extend JpaBaseRepository to use spring transactional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31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808820"/>
            <a:ext cx="7019925" cy="1981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103" y="4293096"/>
            <a:ext cx="6105525" cy="1943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1334279">
            <a:off x="4229963" y="326418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1438638">
            <a:off x="2480537" y="456101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76668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Transactional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1529122"/>
            <a:ext cx="8753475" cy="1914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43" y="3633345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390125" y="481630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1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33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670875"/>
            <a:ext cx="7677150" cy="1514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3861048"/>
            <a:ext cx="7172325" cy="2324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547353" y="4289113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06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34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62" y="1458072"/>
            <a:ext cx="7153275" cy="5010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11911389">
            <a:off x="4589232" y="5222389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85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Control the transaction yourself </a:t>
            </a:r>
            <a:r>
              <a:rPr lang="en-GB" dirty="0"/>
              <a:t> using helper classes in the persistence package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3145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Full transaction control by the 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36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9120"/>
            <a:ext cx="9001125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737609"/>
            <a:ext cx="7534275" cy="2876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21140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outside of the repository (1)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Accepting a signup request needs to</a:t>
            </a:r>
          </a:p>
          <a:p>
            <a:pPr lvl="1"/>
            <a:r>
              <a:rPr lang="pt-PT" dirty="0"/>
              <a:t>Create a system user</a:t>
            </a:r>
          </a:p>
          <a:p>
            <a:pPr lvl="1"/>
            <a:r>
              <a:rPr lang="pt-PT" dirty="0"/>
              <a:t>Create a cafeteria user</a:t>
            </a:r>
          </a:p>
          <a:p>
            <a:pPr lvl="1"/>
            <a:r>
              <a:rPr lang="pt-PT" dirty="0"/>
              <a:t>Change the status of the signup request</a:t>
            </a:r>
          </a:p>
          <a:p>
            <a:r>
              <a:rPr lang="pt-PT" dirty="0"/>
              <a:t>Three different aggregates!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87722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(2): use </a:t>
            </a:r>
            <a:r>
              <a:rPr lang="en-GB" dirty="0" err="1"/>
              <a:t>JpaAutoTxRepository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38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0" y="1572653"/>
            <a:ext cx="8429625" cy="1685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2950354"/>
            <a:ext cx="8934450" cy="451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4914899"/>
            <a:ext cx="9001125" cy="3124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9234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39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" y="2128837"/>
            <a:ext cx="8810625" cy="2600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27996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40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1506276"/>
            <a:ext cx="9058275" cy="4867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950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789141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24467"/>
          <a:stretch/>
        </p:blipFill>
        <p:spPr>
          <a:xfrm>
            <a:off x="5662435" y="383648"/>
            <a:ext cx="3554081" cy="6467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5" y="1412777"/>
            <a:ext cx="5951789" cy="54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994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 invariants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ensurePasswordHasAtLeastOneDigitAnd6CharactersLong()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Password("abcdefgh1");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ensurePasswordsSmallerThan6CharactersAreNotAllowed()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Password("ab1c");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ensurePasswordsWithoutDigitsAreNotAllowed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3122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Password {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Password(String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throw new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IllegalStateException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thePassword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password;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Strings.isNullOrEmpty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password.length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 6)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Strings.containsDigit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return false;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true;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134332"/>
      </p:ext>
    </p:extLst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Pub/Sub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77223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91329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Abstract service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4829" y="1774825"/>
            <a:ext cx="5794342" cy="46259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39945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3950" y="1958975"/>
            <a:ext cx="6896100" cy="42576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971916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Client code uses </a:t>
            </a:r>
            <a:r>
              <a:rPr lang="en-GB" dirty="0" err="1"/>
              <a:t>InProcessEventPublisher</a:t>
            </a:r>
            <a:r>
              <a:rPr lang="en-GB" dirty="0"/>
              <a:t> or </a:t>
            </a:r>
            <a:r>
              <a:rPr lang="en-GB" dirty="0" err="1"/>
              <a:t>InProcessEventDispatcher</a:t>
            </a:r>
            <a:r>
              <a:rPr lang="en-GB" dirty="0"/>
              <a:t> via static instance() method or via dependency injection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5699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50</a:t>
            </a:fld>
            <a:endParaRPr lang="pt-PT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571500" y="-41275"/>
            <a:ext cx="8572500" cy="689927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8620"/>
            <a:ext cx="8229600" cy="1252538"/>
          </a:xfrm>
        </p:spPr>
        <p:txBody>
          <a:bodyPr/>
          <a:lstStyle/>
          <a:p>
            <a:r>
              <a:rPr lang="en-GB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Simple Persistent</a:t>
            </a:r>
            <a:endParaRPr lang="en-US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413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Persistent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only via dependency injection</a:t>
            </a:r>
          </a:p>
          <a:p>
            <a:r>
              <a:rPr lang="en-GB" dirty="0"/>
              <a:t>Domain entities must be registered in persistence.xml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625522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7654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Maven</a:t>
            </a:r>
          </a:p>
          <a:p>
            <a:pPr lvl="1"/>
            <a:r>
              <a:rPr lang="en-GB" dirty="0"/>
              <a:t>Dependency manager</a:t>
            </a:r>
          </a:p>
          <a:p>
            <a:pPr lvl="1"/>
            <a:r>
              <a:rPr lang="en-GB" dirty="0" err="1"/>
              <a:t>Artifact</a:t>
            </a:r>
            <a:r>
              <a:rPr lang="en-GB" dirty="0"/>
              <a:t> (jar) repository </a:t>
            </a:r>
          </a:p>
          <a:p>
            <a:pPr lvl="1"/>
            <a:r>
              <a:rPr lang="en-GB" dirty="0"/>
              <a:t>Build automation</a:t>
            </a:r>
          </a:p>
          <a:p>
            <a:pPr lvl="1"/>
            <a:r>
              <a:rPr lang="en-GB" dirty="0"/>
              <a:t>Other tasks, e.g., deploy, run</a:t>
            </a:r>
          </a:p>
          <a:p>
            <a:r>
              <a:rPr lang="en-GB" dirty="0"/>
              <a:t>Works for Eclipse, </a:t>
            </a:r>
            <a:r>
              <a:rPr lang="en-GB" dirty="0" err="1"/>
              <a:t>InteliJ</a:t>
            </a:r>
            <a:r>
              <a:rPr lang="en-GB" dirty="0"/>
              <a:t>, </a:t>
            </a:r>
            <a:r>
              <a:rPr lang="en-GB" dirty="0" err="1"/>
              <a:t>Netbeans</a:t>
            </a:r>
            <a:endParaRPr lang="en-GB" dirty="0"/>
          </a:p>
          <a:p>
            <a:r>
              <a:rPr lang="en-GB" dirty="0"/>
              <a:t>Pom.xml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8637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54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" y="-7414"/>
            <a:ext cx="13247440" cy="74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70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55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" y="0"/>
            <a:ext cx="12752738" cy="717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4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y ISEP (Paulo Sousa)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my ISEP (Paulo Sousa)</Template>
  <TotalTime>27535</TotalTime>
  <Words>889</Words>
  <Application>Microsoft Office PowerPoint</Application>
  <PresentationFormat>On-screen Show (4:3)</PresentationFormat>
  <Paragraphs>278</Paragraphs>
  <Slides>55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Arial</vt:lpstr>
      <vt:lpstr>Calibri</vt:lpstr>
      <vt:lpstr>Corbel</vt:lpstr>
      <vt:lpstr>Courier New</vt:lpstr>
      <vt:lpstr>Wingdings</vt:lpstr>
      <vt:lpstr>Wingdings 2</vt:lpstr>
      <vt:lpstr>Wingdings 3</vt:lpstr>
      <vt:lpstr>my ISEP (Paulo Sousa)</vt:lpstr>
      <vt:lpstr>EAPLI Framework</vt:lpstr>
      <vt:lpstr>What it is</vt:lpstr>
      <vt:lpstr>Components </vt:lpstr>
      <vt:lpstr>Dependencies</vt:lpstr>
      <vt:lpstr>Core</vt:lpstr>
      <vt:lpstr>DDD</vt:lpstr>
      <vt:lpstr>Common patterns</vt:lpstr>
      <vt:lpstr>Utilities</vt:lpstr>
      <vt:lpstr>Utilities</vt:lpstr>
      <vt:lpstr>Presentation</vt:lpstr>
      <vt:lpstr>Presentation</vt:lpstr>
      <vt:lpstr>PowerPoint Presentation</vt:lpstr>
      <vt:lpstr>PowerPoint Presentation</vt:lpstr>
      <vt:lpstr>PowerPoint Presentation</vt:lpstr>
      <vt:lpstr>Core</vt:lpstr>
      <vt:lpstr>Persistence</vt:lpstr>
      <vt:lpstr>Repositories</vt:lpstr>
      <vt:lpstr>PowerPoint Presentation</vt:lpstr>
      <vt:lpstr>PowerPoint Presentation</vt:lpstr>
      <vt:lpstr>Persistence</vt:lpstr>
      <vt:lpstr>PowerPoint Presentation</vt:lpstr>
      <vt:lpstr>Example</vt:lpstr>
      <vt:lpstr>In memory Repositories</vt:lpstr>
      <vt:lpstr>JPA Repositories</vt:lpstr>
      <vt:lpstr>Spring Data JPA repositories</vt:lpstr>
      <vt:lpstr>Resources </vt:lpstr>
      <vt:lpstr>applicationContext.xml</vt:lpstr>
      <vt:lpstr>applicationContext-persistence.xml</vt:lpstr>
      <vt:lpstr>Transaction control</vt:lpstr>
      <vt:lpstr>Transaction control #1</vt:lpstr>
      <vt:lpstr>All JPA repositories extend JpaBaseRepository to use spring transactional control</vt:lpstr>
      <vt:lpstr>Spring Transactional control</vt:lpstr>
      <vt:lpstr>SpringData repositories (1)</vt:lpstr>
      <vt:lpstr>SpringData repositories (2)</vt:lpstr>
      <vt:lpstr>Transaction control #2</vt:lpstr>
      <vt:lpstr>Full transaction control by the repository</vt:lpstr>
      <vt:lpstr>Transaction control outside of the repository (1)</vt:lpstr>
      <vt:lpstr>Transaction control (2): use JpaAutoTxRepository</vt:lpstr>
      <vt:lpstr>Transaction control (3): explicit control by the controller</vt:lpstr>
      <vt:lpstr>Transaction control (3): explicit control by the controller</vt:lpstr>
      <vt:lpstr>Infrastructure Authz</vt:lpstr>
      <vt:lpstr>User model</vt:lpstr>
      <vt:lpstr>Domain invariants</vt:lpstr>
      <vt:lpstr>Domain</vt:lpstr>
      <vt:lpstr>Infrastructure Pub/Sub</vt:lpstr>
      <vt:lpstr>PowerPoint Presentation</vt:lpstr>
      <vt:lpstr>Abstract service</vt:lpstr>
      <vt:lpstr>In Process</vt:lpstr>
      <vt:lpstr>In Process</vt:lpstr>
      <vt:lpstr>Simple Persistent</vt:lpstr>
      <vt:lpstr>Simple Persistent</vt:lpstr>
      <vt:lpstr>PowerPoint Presentation</vt:lpstr>
      <vt:lpstr>Build</vt:lpstr>
      <vt:lpstr>PowerPoint Presentation</vt:lpstr>
      <vt:lpstr>Build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Base PL</dc:title>
  <dc:creator>PAG@isep.ipp.pt;nmb@isep.ipp.pt</dc:creator>
  <cp:keywords>EAPLI</cp:keywords>
  <cp:lastModifiedBy>Paulo Gandra de Sousa</cp:lastModifiedBy>
  <cp:revision>1724</cp:revision>
  <dcterms:created xsi:type="dcterms:W3CDTF">2009-02-23T00:15:06Z</dcterms:created>
  <dcterms:modified xsi:type="dcterms:W3CDTF">2019-03-18T14:28:33Z</dcterms:modified>
</cp:coreProperties>
</file>