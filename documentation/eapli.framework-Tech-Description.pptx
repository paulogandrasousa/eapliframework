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55"/>
  </p:notesMasterIdLst>
  <p:handoutMasterIdLst>
    <p:handoutMasterId r:id="rId56"/>
  </p:handoutMasterIdLst>
  <p:sldIdLst>
    <p:sldId id="367" r:id="rId2"/>
    <p:sldId id="417" r:id="rId3"/>
    <p:sldId id="418" r:id="rId4"/>
    <p:sldId id="419" r:id="rId5"/>
    <p:sldId id="412" r:id="rId6"/>
    <p:sldId id="376" r:id="rId7"/>
    <p:sldId id="432" r:id="rId8"/>
    <p:sldId id="375" r:id="rId9"/>
    <p:sldId id="442" r:id="rId10"/>
    <p:sldId id="381" r:id="rId11"/>
    <p:sldId id="382" r:id="rId12"/>
    <p:sldId id="383" r:id="rId13"/>
    <p:sldId id="384" r:id="rId14"/>
    <p:sldId id="385" r:id="rId15"/>
    <p:sldId id="415" r:id="rId16"/>
    <p:sldId id="377" r:id="rId17"/>
    <p:sldId id="378" r:id="rId18"/>
    <p:sldId id="434" r:id="rId19"/>
    <p:sldId id="435" r:id="rId20"/>
    <p:sldId id="436" r:id="rId21"/>
    <p:sldId id="379" r:id="rId22"/>
    <p:sldId id="380" r:id="rId23"/>
    <p:sldId id="423" r:id="rId24"/>
    <p:sldId id="430" r:id="rId25"/>
    <p:sldId id="433" r:id="rId26"/>
    <p:sldId id="431" r:id="rId27"/>
    <p:sldId id="422" r:id="rId28"/>
    <p:sldId id="424" r:id="rId29"/>
    <p:sldId id="425" r:id="rId30"/>
    <p:sldId id="426" r:id="rId31"/>
    <p:sldId id="427" r:id="rId32"/>
    <p:sldId id="428" r:id="rId33"/>
    <p:sldId id="429" r:id="rId34"/>
    <p:sldId id="399" r:id="rId35"/>
    <p:sldId id="400" r:id="rId36"/>
    <p:sldId id="409" r:id="rId37"/>
    <p:sldId id="410" r:id="rId38"/>
    <p:sldId id="411" r:id="rId39"/>
    <p:sldId id="413" r:id="rId40"/>
    <p:sldId id="347" r:id="rId41"/>
    <p:sldId id="368" r:id="rId42"/>
    <p:sldId id="335" r:id="rId43"/>
    <p:sldId id="420" r:id="rId44"/>
    <p:sldId id="439" r:id="rId45"/>
    <p:sldId id="421" r:id="rId46"/>
    <p:sldId id="437" r:id="rId47"/>
    <p:sldId id="440" r:id="rId48"/>
    <p:sldId id="438" r:id="rId49"/>
    <p:sldId id="441" r:id="rId50"/>
    <p:sldId id="414" r:id="rId51"/>
    <p:sldId id="350" r:id="rId52"/>
    <p:sldId id="351" r:id="rId53"/>
    <p:sldId id="337" r:id="rId54"/>
  </p:sldIdLst>
  <p:sldSz cx="9144000" cy="6858000" type="screen4x3"/>
  <p:notesSz cx="10234613" cy="70993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Nuno Silva" initials="NS" lastIdx="3" clrIdx="0"/>
  <p:cmAuthor id="1" name="Paulo Gandra de Sousa" initials="PGdS" lastIdx="17" clrIdx="1">
    <p:extLst/>
  </p:cmAuthor>
  <p:cmAuthor id="2" name="Jorge Santos" initials="AJS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66" autoAdjust="0"/>
    <p:restoredTop sz="81958" autoAdjust="0"/>
  </p:normalViewPr>
  <p:slideViewPr>
    <p:cSldViewPr>
      <p:cViewPr varScale="1">
        <p:scale>
          <a:sx n="92" d="100"/>
          <a:sy n="92" d="100"/>
        </p:scale>
        <p:origin x="2166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2169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5754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commentAuthors" Target="commentAuthors.xml"/><Relationship Id="rId61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16-03-25T15:40:34.930" idx="6">
    <p:pos x="10" y="10"/>
    <p:text>poderia ser atualizado para nao aparecer ExpenseType, mas de momento não é preocupante pois mostra o principio de abstract factory</p:text>
    <p:extLst>
      <p:ext uri="{C676402C-5697-4E1C-873F-D02D1690AC5C}">
        <p15:threadingInfo xmlns:p15="http://schemas.microsoft.com/office/powerpoint/2012/main" timeZoneBias="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796949" y="1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/>
          <a:lstStyle>
            <a:lvl1pPr algn="r">
              <a:defRPr sz="1200"/>
            </a:lvl1pPr>
          </a:lstStyle>
          <a:p>
            <a:fld id="{DF9BBED1-C878-4044-B70F-841416CAC1AE}" type="datetimeFigureOut">
              <a:rPr lang="en-US" smtClean="0"/>
              <a:pPr/>
              <a:t>6/14/2018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796949" y="6743632"/>
            <a:ext cx="4435444" cy="354495"/>
          </a:xfrm>
          <a:prstGeom prst="rect">
            <a:avLst/>
          </a:prstGeom>
        </p:spPr>
        <p:txBody>
          <a:bodyPr vert="horz" lIns="95070" tIns="47535" rIns="95070" bIns="47535" rtlCol="0" anchor="b"/>
          <a:lstStyle>
            <a:lvl1pPr algn="r">
              <a:defRPr sz="1200"/>
            </a:lvl1pPr>
          </a:lstStyle>
          <a:p>
            <a:fld id="{D7D9A969-75A7-403D-A555-777A6053A77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6313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249" y="1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/>
          <a:lstStyle>
            <a:lvl1pPr algn="r">
              <a:defRPr sz="1400"/>
            </a:lvl1pPr>
          </a:lstStyle>
          <a:p>
            <a:fld id="{754636F6-6535-4DFB-8291-07E7DDBE6239}" type="datetimeFigureOut">
              <a:rPr lang="pt-PT" smtClean="0"/>
              <a:pPr/>
              <a:t>14/06/2018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4863" y="531813"/>
            <a:ext cx="3544887" cy="2660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02980" tIns="51490" rIns="102980" bIns="5149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463" y="3372168"/>
            <a:ext cx="8187690" cy="3194685"/>
          </a:xfrm>
          <a:prstGeom prst="rect">
            <a:avLst/>
          </a:prstGeom>
        </p:spPr>
        <p:txBody>
          <a:bodyPr vert="horz" lIns="102980" tIns="51490" rIns="102980" bIns="5149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l">
              <a:defRPr sz="14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249" y="6743104"/>
            <a:ext cx="4434998" cy="354965"/>
          </a:xfrm>
          <a:prstGeom prst="rect">
            <a:avLst/>
          </a:prstGeom>
        </p:spPr>
        <p:txBody>
          <a:bodyPr vert="horz" lIns="102980" tIns="51490" rIns="102980" bIns="51490" rtlCol="0" anchor="b"/>
          <a:lstStyle>
            <a:lvl1pPr algn="r">
              <a:defRPr sz="1400"/>
            </a:lvl1pPr>
          </a:lstStyle>
          <a:p>
            <a:fld id="{54F76911-F589-44E9-8155-61F0472246BF}" type="slidenum">
              <a:rPr lang="pt-PT" smtClean="0"/>
              <a:pPr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41425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94114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26806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 packages </a:t>
            </a:r>
            <a:r>
              <a:rPr lang="en-GB" dirty="0" err="1"/>
              <a:t>principais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Model – classes </a:t>
            </a:r>
            <a:r>
              <a:rPr lang="en-GB" dirty="0" err="1"/>
              <a:t>utilitárias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ser</a:t>
            </a:r>
            <a:r>
              <a:rPr lang="en-GB" dirty="0"/>
              <a:t> </a:t>
            </a:r>
            <a:r>
              <a:rPr lang="en-GB" dirty="0" err="1"/>
              <a:t>usadas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qq</a:t>
            </a:r>
            <a:r>
              <a:rPr lang="en-GB" dirty="0"/>
              <a:t> </a:t>
            </a:r>
            <a:r>
              <a:rPr lang="en-GB" dirty="0" err="1"/>
              <a:t>modelo</a:t>
            </a:r>
            <a:r>
              <a:rPr lang="en-GB" dirty="0"/>
              <a:t>, ex., «value object» Money</a:t>
            </a:r>
          </a:p>
          <a:p>
            <a:pPr marL="171450" indent="-171450">
              <a:buFontTx/>
              <a:buChar char="-"/>
            </a:pPr>
            <a:r>
              <a:rPr lang="en-GB" dirty="0"/>
              <a:t>Patterns – </a:t>
            </a:r>
            <a:r>
              <a:rPr lang="en-GB" dirty="0" err="1"/>
              <a:t>essencialmente</a:t>
            </a:r>
            <a:r>
              <a:rPr lang="en-GB" dirty="0"/>
              <a:t> interfaces para “</a:t>
            </a:r>
            <a:r>
              <a:rPr lang="en-GB" dirty="0" err="1"/>
              <a:t>marcação</a:t>
            </a:r>
            <a:r>
              <a:rPr lang="en-GB" dirty="0"/>
              <a:t>” de classes DDD. </a:t>
            </a:r>
            <a:r>
              <a:rPr lang="en-GB" dirty="0" err="1"/>
              <a:t>Possui</a:t>
            </a:r>
            <a:r>
              <a:rPr lang="en-GB" dirty="0"/>
              <a:t> </a:t>
            </a:r>
            <a:r>
              <a:rPr lang="en-GB" dirty="0" err="1"/>
              <a:t>subpackage</a:t>
            </a:r>
            <a:r>
              <a:rPr lang="en-GB" dirty="0"/>
              <a:t> com </a:t>
            </a:r>
            <a:r>
              <a:rPr lang="en-GB" dirty="0" err="1"/>
              <a:t>implementações</a:t>
            </a:r>
            <a:r>
              <a:rPr lang="en-GB" dirty="0"/>
              <a:t> </a:t>
            </a:r>
            <a:r>
              <a:rPr lang="en-GB" dirty="0" err="1"/>
              <a:t>auxiliares</a:t>
            </a: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 err="1"/>
              <a:t>Persistence.jpa</a:t>
            </a:r>
            <a:r>
              <a:rPr lang="en-GB" dirty="0"/>
              <a:t> – </a:t>
            </a:r>
            <a:r>
              <a:rPr lang="en-GB" dirty="0" err="1"/>
              <a:t>classe</a:t>
            </a:r>
            <a:r>
              <a:rPr lang="en-GB" dirty="0"/>
              <a:t> </a:t>
            </a:r>
            <a:r>
              <a:rPr lang="en-GB" dirty="0" err="1"/>
              <a:t>utilitária</a:t>
            </a:r>
            <a:r>
              <a:rPr lang="en-GB" dirty="0"/>
              <a:t> </a:t>
            </a:r>
            <a:r>
              <a:rPr lang="en-GB" dirty="0" err="1"/>
              <a:t>JpaRepository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55341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 dirty="0"/>
              <a:t>Necessidade de suportar duas persistências</a:t>
            </a:r>
          </a:p>
          <a:p>
            <a:pPr lvl="1"/>
            <a:r>
              <a:rPr lang="pt-PT" dirty="0"/>
              <a:t>Em memória</a:t>
            </a:r>
          </a:p>
          <a:p>
            <a:pPr lvl="1"/>
            <a:r>
              <a:rPr lang="pt-PT" dirty="0"/>
              <a:t>BD usando ORM JPA</a:t>
            </a:r>
          </a:p>
          <a:p>
            <a:pPr lvl="1"/>
            <a:r>
              <a:rPr lang="pt-PT" dirty="0"/>
              <a:t>Esconder este pormenor do restante código</a:t>
            </a:r>
          </a:p>
          <a:p>
            <a:pPr marL="365760" lvl="1" indent="0">
              <a:buNone/>
            </a:pPr>
            <a:endParaRPr lang="pt-PT" dirty="0"/>
          </a:p>
          <a:p>
            <a:pPr lvl="1"/>
            <a:r>
              <a:rPr lang="pt-PT" dirty="0"/>
              <a:t>Vários repositórios (um por agregado)</a:t>
            </a:r>
          </a:p>
          <a:p>
            <a:pPr lvl="1"/>
            <a:r>
              <a:rPr lang="pt-PT" dirty="0"/>
              <a:t>Fábrica para os repositórios de acordo com tipo de persistência</a:t>
            </a:r>
          </a:p>
          <a:p>
            <a:pPr lvl="1"/>
            <a:endParaRPr lang="pt-PT" dirty="0"/>
          </a:p>
          <a:p>
            <a:pPr lvl="1"/>
            <a:r>
              <a:rPr lang="pt-PT" dirty="0"/>
              <a:t>Fábrica de fábricas para esconder lógica de criação de qual o tipo de persistência a usar</a:t>
            </a:r>
          </a:p>
          <a:p>
            <a:pPr lvl="1"/>
            <a:endParaRPr lang="pt-PT" dirty="0"/>
          </a:p>
          <a:p>
            <a:pPr lvl="1"/>
            <a:r>
              <a:rPr lang="pt-PT" dirty="0" err="1"/>
              <a:t>Abstract</a:t>
            </a:r>
            <a:r>
              <a:rPr lang="pt-PT" dirty="0"/>
              <a:t> </a:t>
            </a:r>
            <a:r>
              <a:rPr lang="pt-PT" dirty="0" err="1"/>
              <a:t>Factory</a:t>
            </a:r>
            <a:r>
              <a:rPr lang="pt-PT" dirty="0"/>
              <a:t> </a:t>
            </a:r>
            <a:r>
              <a:rPr lang="pt-PT" dirty="0" err="1"/>
              <a:t>Pattern</a:t>
            </a:r>
            <a:endParaRPr lang="pt-PT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350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Each repository is defined by an interface</a:t>
            </a:r>
            <a:r>
              <a:rPr lang="en-GB" baseline="0" dirty="0"/>
              <a:t> that is the well known contract to the rest of the application. We will have one repository per domain aggregate.</a:t>
            </a:r>
          </a:p>
          <a:p>
            <a:r>
              <a:rPr lang="en-GB" baseline="0" dirty="0"/>
              <a:t>Since we have interfaces we need a factory to hide the details of the concrete object to create. E.g., </a:t>
            </a:r>
            <a:r>
              <a:rPr lang="en-GB" baseline="0" dirty="0" err="1"/>
              <a:t>ExpenseTypeRepositoryFactory</a:t>
            </a:r>
            <a:endParaRPr lang="en-GB" baseline="0" dirty="0"/>
          </a:p>
          <a:p>
            <a:r>
              <a:rPr lang="en-GB" baseline="0" dirty="0"/>
              <a:t>Since we have several repositories we group their creation in a single factory (i.e., </a:t>
            </a:r>
            <a:r>
              <a:rPr lang="en-GB" baseline="0" dirty="0" err="1"/>
              <a:t>RepositoryFactory</a:t>
            </a:r>
            <a:r>
              <a:rPr lang="en-GB" baseline="0" dirty="0"/>
              <a:t>) to avoid duplication of code, i.e., each factory would have the decision code to choose which implementation to create. This way the </a:t>
            </a:r>
            <a:r>
              <a:rPr lang="en-GB" baseline="0" dirty="0" err="1"/>
              <a:t>JpaFactory</a:t>
            </a:r>
            <a:r>
              <a:rPr lang="en-GB" baseline="0" dirty="0"/>
              <a:t> knows it only creates </a:t>
            </a:r>
            <a:r>
              <a:rPr lang="en-GB" baseline="0" dirty="0" err="1"/>
              <a:t>Jpa</a:t>
            </a:r>
            <a:r>
              <a:rPr lang="en-GB" baseline="0"/>
              <a:t> implementations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19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273046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24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146755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Extrato</a:t>
            </a:r>
            <a:r>
              <a:rPr lang="en-GB" dirty="0"/>
              <a:t> </a:t>
            </a:r>
            <a:r>
              <a:rPr lang="en-GB" dirty="0" err="1"/>
              <a:t>faltam</a:t>
            </a:r>
            <a:r>
              <a:rPr lang="en-GB" dirty="0"/>
              <a:t> </a:t>
            </a:r>
            <a:r>
              <a:rPr lang="en-GB" dirty="0" err="1"/>
              <a:t>aqui</a:t>
            </a:r>
            <a:r>
              <a:rPr lang="en-GB" dirty="0"/>
              <a:t> </a:t>
            </a:r>
            <a:r>
              <a:rPr lang="en-GB" dirty="0" err="1"/>
              <a:t>alguns</a:t>
            </a:r>
            <a:r>
              <a:rPr lang="en-GB" dirty="0"/>
              <a:t> </a:t>
            </a:r>
            <a:r>
              <a:rPr lang="en-GB" dirty="0" err="1"/>
              <a:t>métodos</a:t>
            </a:r>
            <a:r>
              <a:rPr lang="en-GB" dirty="0"/>
              <a:t>. </a:t>
            </a:r>
            <a:r>
              <a:rPr lang="en-GB" dirty="0" err="1"/>
              <a:t>Devem</a:t>
            </a:r>
            <a:r>
              <a:rPr lang="en-GB" dirty="0"/>
              <a:t> </a:t>
            </a:r>
            <a:r>
              <a:rPr lang="en-GB" dirty="0" err="1"/>
              <a:t>ver</a:t>
            </a:r>
            <a:r>
              <a:rPr lang="en-GB" dirty="0"/>
              <a:t> o </a:t>
            </a:r>
            <a:r>
              <a:rPr lang="en-GB" dirty="0" err="1"/>
              <a:t>código</a:t>
            </a:r>
            <a:r>
              <a:rPr lang="en-GB" dirty="0"/>
              <a:t> </a:t>
            </a:r>
            <a:r>
              <a:rPr lang="en-GB" dirty="0" err="1"/>
              <a:t>fonte</a:t>
            </a:r>
            <a:r>
              <a:rPr lang="en-GB" dirty="0"/>
              <a:t> </a:t>
            </a:r>
            <a:r>
              <a:rPr lang="en-GB" dirty="0" err="1"/>
              <a:t>completo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4F76911-F589-44E9-8155-61F0472246BF}" type="slidenum">
              <a:rPr lang="pt-PT" smtClean="0"/>
              <a:pPr/>
              <a:t>42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1195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0"/>
            <a:ext cx="9143999" cy="513543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355848"/>
            <a:ext cx="8077200" cy="1673352"/>
          </a:xfrm>
        </p:spPr>
        <p:txBody>
          <a:bodyPr vert="horz" lIns="91440" tIns="0" rIns="45720" bIns="0" rtlCol="0" anchor="t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1828800"/>
            <a:ext cx="8077200" cy="1499616"/>
          </a:xfrm>
        </p:spPr>
        <p:txBody>
          <a:bodyPr lIns="118872" tIns="0" rIns="45720" bIns="0" anchor="b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222AE-4D74-4601-B435-B179E428ACD9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0" name="Rectangle 9"/>
          <p:cNvSpPr/>
          <p:nvPr/>
        </p:nvSpPr>
        <p:spPr bwMode="invGray">
          <a:xfrm>
            <a:off x="0" y="5128334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5448"/>
            <a:ext cx="8229600" cy="1252728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ltGray">
          <a:xfrm>
            <a:off x="0" y="1"/>
            <a:ext cx="9144000" cy="260252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invGray">
          <a:xfrm>
            <a:off x="0" y="2602520"/>
            <a:ext cx="9144000" cy="4572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118872"/>
            <a:ext cx="8013192" cy="1636776"/>
          </a:xfrm>
        </p:spPr>
        <p:txBody>
          <a:bodyPr vert="horz" lIns="91440" tIns="0" rIns="91440" bIns="0" rtlCol="0" anchor="b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>
            <a:lvl1pPr algn="l">
              <a:defRPr sz="4700" b="1" cap="none" baseline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64" y="1828800"/>
            <a:ext cx="8022336" cy="685800"/>
          </a:xfrm>
        </p:spPr>
        <p:txBody>
          <a:bodyPr lIns="146304" tIns="0" rIns="45720" bIns="0" anchor="t"/>
          <a:lstStyle>
            <a:lvl1pPr marL="0" indent="0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73936"/>
            <a:ext cx="4038600" cy="4623816"/>
          </a:xfrm>
        </p:spPr>
        <p:txBody>
          <a:bodyPr lIns="9144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73936"/>
            <a:ext cx="4038600" cy="462381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98987"/>
            <a:ext cx="4040188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49512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698987"/>
            <a:ext cx="4041775" cy="715355"/>
          </a:xfrm>
        </p:spPr>
        <p:txBody>
          <a:bodyPr lIns="146304" anchor="ctr"/>
          <a:lstStyle>
            <a:lvl1pPr marL="0" indent="0">
              <a:buNone/>
              <a:defRPr sz="23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449512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838" y="152400"/>
            <a:ext cx="2523744" cy="978408"/>
          </a:xfrm>
        </p:spPr>
        <p:txBody>
          <a:bodyPr vert="horz" lIns="73152" rIns="45720" bIns="0" rtlCol="0" anchor="b">
            <a:normAutofit/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19377" y="1743133"/>
            <a:ext cx="5920641" cy="45588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838" y="1730018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  <p:sp>
        <p:nvSpPr>
          <p:cNvPr id="12" name="Rectangle 11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1453896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" y="155448"/>
            <a:ext cx="2525150" cy="978408"/>
          </a:xfrm>
        </p:spPr>
        <p:txBody>
          <a:bodyPr lIns="73152" bIns="0" anchor="b">
            <a:sp3d prstMaterial="matte"/>
          </a:bodyPr>
          <a:lstStyle>
            <a:lvl1pPr algn="l">
              <a:defRPr sz="2000" b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03805" y="1484808"/>
            <a:ext cx="6247397" cy="5373192"/>
          </a:xfrm>
          <a:solidFill>
            <a:schemeClr val="bg2">
              <a:shade val="7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  <a:extLst/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" y="1728216"/>
            <a:ext cx="2468880" cy="4572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64592" y="1170432"/>
            <a:ext cx="2523744" cy="201168"/>
          </a:xfrm>
        </p:spPr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11" name="Rectangle 10"/>
          <p:cNvSpPr/>
          <p:nvPr/>
        </p:nvSpPr>
        <p:spPr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Rectangle 8"/>
          <p:cNvSpPr/>
          <p:nvPr/>
        </p:nvSpPr>
        <p:spPr bwMode="invGray">
          <a:xfrm>
            <a:off x="2855737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35808" y="1170432"/>
            <a:ext cx="5193792" cy="201168"/>
          </a:xfrm>
        </p:spPr>
        <p:txBody>
          <a:bodyPr/>
          <a:lstStyle>
            <a:lvl1pPr>
              <a:defRPr>
                <a:solidFill>
                  <a:schemeClr val="bg1">
                    <a:shade val="50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39328" y="1170432"/>
            <a:ext cx="733864" cy="201168"/>
          </a:xfrm>
        </p:spPr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invGray">
          <a:xfrm>
            <a:off x="6598920" y="0"/>
            <a:ext cx="45720" cy="6858000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108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 bwMode="ltGray">
          <a:xfrm>
            <a:off x="6647687" y="0"/>
            <a:ext cx="2514601" cy="6858000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0" y="274640"/>
            <a:ext cx="19050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30480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40597" y="6377459"/>
            <a:ext cx="3836404" cy="365125"/>
          </a:xfrm>
        </p:spPr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 bwMode="invGray">
          <a:xfrm>
            <a:off x="0" y="1259044"/>
            <a:ext cx="9144000" cy="45719"/>
          </a:xfrm>
          <a:prstGeom prst="rect">
            <a:avLst/>
          </a:prstGeom>
          <a:solidFill>
            <a:srgbClr val="FFFFFF"/>
          </a:solidFill>
          <a:ln w="48000" cap="flat" cmpd="thickThin" algn="ctr">
            <a:noFill/>
            <a:prstDash val="solid"/>
          </a:ln>
          <a:effectLst>
            <a:outerShdw blurRad="31750" dist="10160" dir="5400000" algn="tl" rotWithShape="0">
              <a:srgbClr val="000000">
                <a:alpha val="60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Rectangle 6"/>
          <p:cNvSpPr/>
          <p:nvPr/>
        </p:nvSpPr>
        <p:spPr bwMode="ltGray">
          <a:xfrm>
            <a:off x="0" y="0"/>
            <a:ext cx="9143999" cy="1304763"/>
          </a:xfrm>
          <a:prstGeom prst="rect">
            <a:avLst/>
          </a:prstGeom>
          <a:solidFill>
            <a:srgbClr val="800000"/>
          </a:solidFill>
          <a:ln w="48000" cap="flat" cmpd="thickThin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1116360"/>
          </a:xfrm>
          <a:prstGeom prst="rect">
            <a:avLst/>
          </a:prstGeom>
        </p:spPr>
        <p:txBody>
          <a:bodyPr vert="horz" lIns="91440" rIns="45720" rtlCol="0" anchor="ctr">
            <a:norm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5191"/>
            <a:ext cx="8229600" cy="4625609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476999"/>
            <a:ext cx="2133600" cy="274320"/>
          </a:xfrm>
          <a:prstGeom prst="rect">
            <a:avLst/>
          </a:prstGeom>
        </p:spPr>
        <p:txBody>
          <a:bodyPr vert="horz" lIns="109728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3643B1D-A57E-46BD-9617-845A2C51AEF7}" type="datetime1">
              <a:rPr lang="pt-PT" smtClean="0"/>
              <a:pPr/>
              <a:t>14/06/2018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40596" y="6476999"/>
            <a:ext cx="5507719" cy="274320"/>
          </a:xfrm>
          <a:prstGeom prst="rect">
            <a:avLst/>
          </a:prstGeom>
        </p:spPr>
        <p:txBody>
          <a:bodyPr vert="horz" lIns="45720" rIns="45720" bIns="0" rtlCol="0" anchor="b"/>
          <a:lstStyle>
            <a:lvl1pPr algn="l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04396" y="6476999"/>
            <a:ext cx="733864" cy="274320"/>
          </a:xfrm>
          <a:prstGeom prst="rect">
            <a:avLst/>
          </a:prstGeom>
        </p:spPr>
        <p:txBody>
          <a:bodyPr vert="horz" bIns="0" rtlCol="0" anchor="b"/>
          <a:lstStyle>
            <a:lvl1pPr algn="r" eaLnBrk="1" latinLnBrk="0" hangingPunct="1">
              <a:defRPr kumimoji="0" sz="1200">
                <a:solidFill>
                  <a:schemeClr val="tx1">
                    <a:tint val="95000"/>
                  </a:schemeClr>
                </a:solidFill>
              </a:defRPr>
            </a:lvl1pPr>
            <a:extLst/>
          </a:lstStyle>
          <a:p>
            <a:fld id="{024A9932-4E76-455F-8E1A-2CC10C89B014}" type="slidenum">
              <a:rPr lang="pt-PT" smtClean="0"/>
              <a:pPr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</p:sldLayoutIdLst>
  <p:transition spd="med">
    <p:fade/>
  </p:transition>
  <p:hf hdr="0" ftr="0" dt="0"/>
  <p:txStyles>
    <p:titleStyle>
      <a:lvl1pPr algn="l" rtl="0" eaLnBrk="1" latinLnBrk="0" hangingPunct="1">
        <a:spcBef>
          <a:spcPct val="0"/>
        </a:spcBef>
        <a:buNone/>
        <a:defRPr kumimoji="0" sz="4500" b="1" kern="1200">
          <a:solidFill>
            <a:schemeClr val="accent1">
              <a:satMod val="150000"/>
            </a:schemeClr>
          </a:solidFill>
          <a:effectLst/>
          <a:latin typeface="+mj-lt"/>
          <a:ea typeface="+mj-ea"/>
          <a:cs typeface="+mj-cs"/>
        </a:defRPr>
      </a:lvl1pPr>
      <a:extLst/>
    </p:titleStyle>
    <p:bodyStyle>
      <a:lvl1pPr marL="438912" indent="-320040" algn="l" rtl="0" eaLnBrk="1" latinLnBrk="0" hangingPunct="1">
        <a:spcBef>
          <a:spcPts val="0"/>
        </a:spcBef>
        <a:buClr>
          <a:schemeClr val="accent1"/>
        </a:buClr>
        <a:buSzPct val="80000"/>
        <a:buFont typeface="Wingdings 2"/>
        <a:buChar char="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31520" indent="-274320" algn="l" rtl="0" eaLnBrk="1" latinLnBrk="0" hangingPunct="1">
        <a:spcBef>
          <a:spcPct val="20000"/>
        </a:spcBef>
        <a:buClr>
          <a:schemeClr val="accent2"/>
        </a:buClr>
        <a:buSzPct val="90000"/>
        <a:buFont typeface="Wingdings"/>
        <a:buChar char="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96696" indent="-228600" algn="l" rtl="0" eaLnBrk="1" latinLnBrk="0" hangingPunct="1">
        <a:spcBef>
          <a:spcPct val="20000"/>
        </a:spcBef>
        <a:buClr>
          <a:schemeClr val="accent3"/>
        </a:buClr>
        <a:buFont typeface="Arial"/>
        <a:buChar char="▪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216152" indent="-182880" algn="l" rtl="0" eaLnBrk="1" latinLnBrk="0" hangingPunct="1">
        <a:spcBef>
          <a:spcPct val="20000"/>
        </a:spcBef>
        <a:buClr>
          <a:schemeClr val="accent4"/>
        </a:buClr>
        <a:buFont typeface="Arial"/>
        <a:buChar char="▪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26464" indent="-182880" algn="l" rtl="0" eaLnBrk="1" latinLnBrk="0" hangingPunct="1">
        <a:spcBef>
          <a:spcPct val="20000"/>
        </a:spcBef>
        <a:buClr>
          <a:schemeClr val="accent5"/>
        </a:buClr>
        <a:buFont typeface="Wingdings 3"/>
        <a:buChar char=""/>
        <a:defRPr kumimoji="0" lang="en-US" sz="20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1627632" indent="-182880" algn="l" rtl="0" eaLnBrk="1" latinLnBrk="0" hangingPunct="1">
        <a:spcBef>
          <a:spcPct val="20000"/>
        </a:spcBef>
        <a:buClr>
          <a:schemeClr val="accent6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ct val="20000"/>
        </a:spcBef>
        <a:buClr>
          <a:schemeClr val="accent1"/>
        </a:buClr>
        <a:buSzPct val="100000"/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ct val="20000"/>
        </a:spcBef>
        <a:buClr>
          <a:schemeClr val="accent2"/>
        </a:buClr>
        <a:buFont typeface="Wingdings 2" pitchFamily="18" charset="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231136" indent="-182880" algn="l" rtl="0" eaLnBrk="1" latinLnBrk="0" hangingPunct="1">
        <a:spcBef>
          <a:spcPct val="20000"/>
        </a:spcBef>
        <a:buClr>
          <a:schemeClr val="accent3"/>
        </a:buClr>
        <a:buFont typeface="Wingdings 2" pitchFamily="18" charset="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://www.isep.ipp.pt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EAPLI Framework</a:t>
            </a:r>
            <a:endParaRPr lang="en-US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21942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What it 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Standard application framework developed in the scope of the course unit “</a:t>
            </a:r>
            <a:r>
              <a:rPr lang="en-GB" dirty="0" err="1" smtClean="0"/>
              <a:t>Engenharia</a:t>
            </a:r>
            <a:r>
              <a:rPr lang="en-GB" dirty="0" smtClean="0"/>
              <a:t> de </a:t>
            </a:r>
            <a:r>
              <a:rPr lang="en-GB" dirty="0" err="1" smtClean="0"/>
              <a:t>Aplicações</a:t>
            </a:r>
            <a:r>
              <a:rPr lang="en-GB" dirty="0" smtClean="0"/>
              <a:t>” at </a:t>
            </a:r>
            <a:r>
              <a:rPr lang="en-GB" dirty="0" err="1" smtClean="0"/>
              <a:t>Instituto</a:t>
            </a:r>
            <a:r>
              <a:rPr lang="en-GB" dirty="0" smtClean="0"/>
              <a:t> Superior de </a:t>
            </a:r>
            <a:r>
              <a:rPr lang="en-GB" dirty="0" err="1" smtClean="0"/>
              <a:t>Engenharia</a:t>
            </a:r>
            <a:r>
              <a:rPr lang="en-GB" dirty="0" smtClean="0"/>
              <a:t> do Porto </a:t>
            </a:r>
            <a:r>
              <a:rPr lang="en-GB" dirty="0" smtClean="0">
                <a:hlinkClick r:id="rId2"/>
              </a:rPr>
              <a:t>http://www.isep.ipp.pt</a:t>
            </a:r>
            <a:r>
              <a:rPr lang="en-GB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8172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Components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Core</a:t>
            </a:r>
          </a:p>
          <a:p>
            <a:pPr lvl="1"/>
            <a:r>
              <a:rPr lang="en-GB" dirty="0"/>
              <a:t>Domain driven design</a:t>
            </a:r>
          </a:p>
          <a:p>
            <a:pPr lvl="1"/>
            <a:r>
              <a:rPr lang="en-GB" dirty="0" smtClean="0"/>
              <a:t>Persistence</a:t>
            </a:r>
          </a:p>
          <a:p>
            <a:pPr lvl="1"/>
            <a:r>
              <a:rPr lang="en-GB" dirty="0" smtClean="0"/>
              <a:t>Utilities</a:t>
            </a:r>
            <a:endParaRPr lang="en-GB" dirty="0"/>
          </a:p>
          <a:p>
            <a:pPr lvl="1"/>
            <a:r>
              <a:rPr lang="en-GB" dirty="0" smtClean="0"/>
              <a:t>Simple Console Presentation framework</a:t>
            </a:r>
          </a:p>
          <a:p>
            <a:r>
              <a:rPr lang="en-GB" dirty="0" smtClean="0"/>
              <a:t>Infrastructure </a:t>
            </a:r>
            <a:r>
              <a:rPr lang="en-GB" dirty="0" err="1" smtClean="0"/>
              <a:t>Authz</a:t>
            </a:r>
            <a:endParaRPr lang="en-GB" dirty="0" smtClean="0"/>
          </a:p>
          <a:p>
            <a:r>
              <a:rPr lang="en-GB" dirty="0"/>
              <a:t>Infrastructure </a:t>
            </a:r>
            <a:r>
              <a:rPr lang="en-GB" dirty="0" smtClean="0"/>
              <a:t>Pub/Sub</a:t>
            </a:r>
          </a:p>
          <a:p>
            <a:pPr lvl="1"/>
            <a:r>
              <a:rPr lang="en-GB" dirty="0" smtClean="0"/>
              <a:t>Event publishing and dispatching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205579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Dependencies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Java 1.8+</a:t>
            </a:r>
          </a:p>
          <a:p>
            <a:r>
              <a:rPr lang="en-GB" dirty="0" smtClean="0"/>
              <a:t>Apache </a:t>
            </a:r>
            <a:r>
              <a:rPr lang="en-GB" dirty="0" smtClean="0"/>
              <a:t>Commons Logging</a:t>
            </a:r>
          </a:p>
          <a:p>
            <a:r>
              <a:rPr lang="en-GB" dirty="0" smtClean="0"/>
              <a:t>JPA</a:t>
            </a:r>
          </a:p>
          <a:p>
            <a:r>
              <a:rPr lang="en-GB" dirty="0" smtClean="0"/>
              <a:t>Spring Data JPA</a:t>
            </a:r>
          </a:p>
          <a:p>
            <a:r>
              <a:rPr lang="en-GB" dirty="0" smtClean="0"/>
              <a:t>Spring Framework dependency injection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47458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GB" dirty="0" smtClean="0"/>
              <a:t>ore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79007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DDD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 smtClean="0"/>
              <a:t>DDD </a:t>
            </a:r>
            <a:r>
              <a:rPr lang="en-GB" dirty="0"/>
              <a:t>pattern interfaces</a:t>
            </a:r>
          </a:p>
          <a:p>
            <a:pPr lvl="1"/>
            <a:r>
              <a:rPr lang="en-GB" dirty="0" err="1"/>
              <a:t>ValueObject</a:t>
            </a:r>
            <a:endParaRPr lang="en-GB" dirty="0"/>
          </a:p>
          <a:p>
            <a:pPr lvl="1"/>
            <a:r>
              <a:rPr lang="en-GB" dirty="0" err="1"/>
              <a:t>DomainEntity</a:t>
            </a:r>
            <a:endParaRPr lang="en-GB" dirty="0"/>
          </a:p>
          <a:p>
            <a:pPr lvl="1"/>
            <a:r>
              <a:rPr lang="en-GB" dirty="0" err="1"/>
              <a:t>AggregateRoot</a:t>
            </a:r>
            <a:endParaRPr lang="en-GB" dirty="0"/>
          </a:p>
          <a:p>
            <a:endParaRPr lang="en-GB" dirty="0" smtClean="0"/>
          </a:p>
          <a:p>
            <a:r>
              <a:rPr lang="en-GB" dirty="0" smtClean="0"/>
              <a:t>Domain </a:t>
            </a:r>
            <a:r>
              <a:rPr lang="en-GB" dirty="0"/>
              <a:t>objects</a:t>
            </a:r>
          </a:p>
          <a:p>
            <a:pPr lvl="1"/>
            <a:r>
              <a:rPr lang="en-GB" dirty="0"/>
              <a:t>Money</a:t>
            </a:r>
          </a:p>
          <a:p>
            <a:pPr lvl="1"/>
            <a:r>
              <a:rPr lang="en-GB" dirty="0"/>
              <a:t>Range</a:t>
            </a:r>
          </a:p>
          <a:p>
            <a:pPr lvl="1"/>
            <a:r>
              <a:rPr lang="en-GB" dirty="0"/>
              <a:t>Time </a:t>
            </a:r>
            <a:r>
              <a:rPr lang="en-GB" dirty="0" smtClean="0"/>
              <a:t>period</a:t>
            </a:r>
          </a:p>
          <a:p>
            <a:pPr lvl="1"/>
            <a:r>
              <a:rPr lang="en-GB" dirty="0" smtClean="0"/>
              <a:t>…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12201"/>
          <a:stretch/>
        </p:blipFill>
        <p:spPr>
          <a:xfrm>
            <a:off x="4914266" y="376464"/>
            <a:ext cx="3506468" cy="602128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0979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Common patterns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Actions</a:t>
            </a:r>
          </a:p>
          <a:p>
            <a:pPr lvl="1"/>
            <a:r>
              <a:rPr lang="en-GB" dirty="0" err="1" smtClean="0"/>
              <a:t>a.k.a</a:t>
            </a:r>
            <a:r>
              <a:rPr lang="en-GB" dirty="0" smtClean="0"/>
              <a:t> </a:t>
            </a:r>
            <a:r>
              <a:rPr lang="en-GB" dirty="0" smtClean="0"/>
              <a:t>Command</a:t>
            </a:r>
          </a:p>
          <a:p>
            <a:r>
              <a:rPr lang="en-GB" dirty="0" smtClean="0"/>
              <a:t>Memento</a:t>
            </a:r>
          </a:p>
          <a:p>
            <a:r>
              <a:rPr lang="en-GB" dirty="0" smtClean="0"/>
              <a:t>Visitor</a:t>
            </a:r>
          </a:p>
          <a:p>
            <a:r>
              <a:rPr lang="en-GB" dirty="0" smtClean="0"/>
              <a:t>DTO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7</a:t>
            </a:fld>
            <a:endParaRPr lang="pt-PT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0574" y="0"/>
            <a:ext cx="4099510" cy="6898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1379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Utilities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Console</a:t>
            </a:r>
          </a:p>
          <a:p>
            <a:pPr lvl="1"/>
            <a:r>
              <a:rPr lang="en-GB" dirty="0"/>
              <a:t>Helper console reading functions</a:t>
            </a:r>
          </a:p>
          <a:p>
            <a:r>
              <a:rPr lang="en-GB" dirty="0" err="1"/>
              <a:t>DateTime</a:t>
            </a:r>
            <a:endParaRPr lang="en-GB" dirty="0"/>
          </a:p>
          <a:p>
            <a:pPr lvl="1"/>
            <a:r>
              <a:rPr lang="en-GB" dirty="0"/>
              <a:t>Simplifies manipulation of dates and times thru java Calendar</a:t>
            </a:r>
          </a:p>
          <a:p>
            <a:r>
              <a:rPr lang="en-GB" dirty="0"/>
              <a:t>Files</a:t>
            </a:r>
          </a:p>
          <a:p>
            <a:pPr lvl="1"/>
            <a:r>
              <a:rPr lang="en-GB" dirty="0"/>
              <a:t>File manipulation helper</a:t>
            </a:r>
          </a:p>
          <a:p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dirty="0" smtClean="0"/>
              <a:t>Arrays</a:t>
            </a:r>
          </a:p>
          <a:p>
            <a:r>
              <a:rPr lang="en-GB" dirty="0" smtClean="0"/>
              <a:t>Collections</a:t>
            </a:r>
          </a:p>
          <a:p>
            <a:r>
              <a:rPr lang="en-GB" dirty="0" err="1" smtClean="0"/>
              <a:t>Comparables</a:t>
            </a:r>
            <a:endParaRPr lang="en-GB" dirty="0" smtClean="0"/>
          </a:p>
          <a:p>
            <a:endParaRPr lang="en-GB" dirty="0"/>
          </a:p>
          <a:p>
            <a:r>
              <a:rPr lang="en-GB" dirty="0" err="1" smtClean="0"/>
              <a:t>HashCoder</a:t>
            </a:r>
            <a:endParaRPr lang="en-GB" dirty="0" smtClean="0"/>
          </a:p>
          <a:p>
            <a:pPr lvl="1"/>
            <a:r>
              <a:rPr lang="en-GB" dirty="0" smtClean="0"/>
              <a:t>Simplifies generation oh a class’ hash code</a:t>
            </a:r>
            <a:endParaRPr lang="en-GB" dirty="0" smtClean="0"/>
          </a:p>
          <a:p>
            <a:endParaRPr lang="en-GB" dirty="0"/>
          </a:p>
          <a:p>
            <a:r>
              <a:rPr lang="en-GB" dirty="0" err="1" smtClean="0"/>
              <a:t>NumberGenerator</a:t>
            </a:r>
            <a:endParaRPr lang="en-GB" dirty="0" smtClean="0"/>
          </a:p>
          <a:p>
            <a:pPr lvl="1"/>
            <a:r>
              <a:rPr lang="en-GB" dirty="0" smtClean="0"/>
              <a:t>Simple API for Java Random class</a:t>
            </a:r>
            <a:endParaRPr lang="en-GB" dirty="0"/>
          </a:p>
          <a:p>
            <a:endParaRPr lang="en-GB" dirty="0" smtClean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9243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Utilities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Strings</a:t>
            </a:r>
          </a:p>
          <a:p>
            <a:pPr lvl="1"/>
            <a:r>
              <a:rPr lang="en-GB" dirty="0"/>
              <a:t>String manipulation</a:t>
            </a:r>
          </a:p>
          <a:p>
            <a:r>
              <a:rPr lang="en-GB" dirty="0" err="1" smtClean="0"/>
              <a:t>StringMixin</a:t>
            </a:r>
            <a:endParaRPr lang="en-GB" dirty="0" smtClean="0"/>
          </a:p>
          <a:p>
            <a:pPr lvl="1"/>
            <a:endParaRPr lang="en-GB" dirty="0" smtClean="0"/>
          </a:p>
          <a:p>
            <a:r>
              <a:rPr lang="en-GB" dirty="0"/>
              <a:t>Math</a:t>
            </a:r>
          </a:p>
          <a:p>
            <a:pPr lvl="1"/>
            <a:r>
              <a:rPr lang="en-GB" dirty="0"/>
              <a:t>Sample math utility</a:t>
            </a:r>
          </a:p>
          <a:p>
            <a:pPr lvl="1"/>
            <a:endParaRPr lang="en-GB" dirty="0" smtClean="0"/>
          </a:p>
          <a:p>
            <a:r>
              <a:rPr lang="en-GB" dirty="0" err="1" smtClean="0"/>
              <a:t>StringPredicates</a:t>
            </a:r>
            <a:endParaRPr lang="en-GB" dirty="0" smtClean="0"/>
          </a:p>
          <a:p>
            <a:pPr lvl="1"/>
            <a:r>
              <a:rPr lang="en-GB" dirty="0" smtClean="0"/>
              <a:t>Predicates to test strings</a:t>
            </a:r>
          </a:p>
          <a:p>
            <a:r>
              <a:rPr lang="en-GB" dirty="0" err="1" smtClean="0"/>
              <a:t>NumberPredicates</a:t>
            </a:r>
            <a:endParaRPr lang="en-GB" dirty="0" smtClean="0"/>
          </a:p>
          <a:p>
            <a:pPr lvl="1"/>
            <a:r>
              <a:rPr lang="en-GB" dirty="0" smtClean="0"/>
              <a:t>Predicates to test primitive numbers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err="1" smtClean="0"/>
              <a:t>PreConditions</a:t>
            </a:r>
            <a:endParaRPr lang="en-GB" dirty="0" smtClean="0"/>
          </a:p>
          <a:p>
            <a:pPr lvl="1"/>
            <a:r>
              <a:rPr lang="en-GB" sz="2000" dirty="0" smtClean="0"/>
              <a:t>Validates pre conditions on methods, usually the method’s parameters</a:t>
            </a:r>
          </a:p>
          <a:p>
            <a:pPr lvl="1"/>
            <a:r>
              <a:rPr lang="en-GB" sz="2000" dirty="0" smtClean="0"/>
              <a:t>Throws </a:t>
            </a:r>
            <a:r>
              <a:rPr lang="en-GB" sz="2000" dirty="0" err="1" smtClean="0"/>
              <a:t>InvalidArgumentException</a:t>
            </a:r>
            <a:endParaRPr lang="en-GB" sz="2000" dirty="0" smtClean="0"/>
          </a:p>
          <a:p>
            <a:r>
              <a:rPr lang="en-GB" dirty="0" smtClean="0"/>
              <a:t>Invariants</a:t>
            </a:r>
          </a:p>
          <a:p>
            <a:pPr lvl="1"/>
            <a:r>
              <a:rPr lang="en-GB" sz="2000" dirty="0" smtClean="0"/>
              <a:t>Validates internal consistency of an object</a:t>
            </a:r>
          </a:p>
          <a:p>
            <a:pPr lvl="1"/>
            <a:r>
              <a:rPr lang="en-GB" sz="2000" dirty="0" smtClean="0"/>
              <a:t>Throws </a:t>
            </a:r>
            <a:r>
              <a:rPr lang="en-GB" sz="2000" dirty="0" err="1" smtClean="0"/>
              <a:t>InvalidStateException</a:t>
            </a:r>
            <a:endParaRPr lang="en-GB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68182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Presentation</a:t>
            </a:r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195887" y="2451894"/>
            <a:ext cx="2943225" cy="32670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10</a:t>
            </a:fld>
            <a:endParaRPr lang="pt-PT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40" y="1376772"/>
            <a:ext cx="3636404" cy="5458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00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</a:t>
            </a:r>
            <a:r>
              <a:rPr lang="en-GB" dirty="0" smtClean="0"/>
              <a:t>resentation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11</a:t>
            </a:fld>
            <a:endParaRPr lang="pt-PT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05" y="1499769"/>
            <a:ext cx="7794190" cy="5251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931580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12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29215"/>
          <a:stretch/>
        </p:blipFill>
        <p:spPr>
          <a:xfrm>
            <a:off x="793" y="0"/>
            <a:ext cx="9181020" cy="70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84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13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r="31875"/>
          <a:stretch/>
        </p:blipFill>
        <p:spPr>
          <a:xfrm>
            <a:off x="14869" y="12576"/>
            <a:ext cx="9129640" cy="725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20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14</a:t>
            </a:fld>
            <a:endParaRPr lang="pt-PT"/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152400"/>
            <a:ext cx="8229600" cy="125095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14" y="68745"/>
            <a:ext cx="9088972" cy="67205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14559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GB" dirty="0" smtClean="0"/>
              <a:t>ore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Persistence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3712463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Persistence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  <a:p>
            <a:pPr lvl="1"/>
            <a:r>
              <a:rPr lang="en-GB" dirty="0"/>
              <a:t>Repository interfaces</a:t>
            </a:r>
          </a:p>
          <a:p>
            <a:r>
              <a:rPr lang="en-GB" dirty="0"/>
              <a:t>Implementations</a:t>
            </a:r>
          </a:p>
          <a:p>
            <a:pPr lvl="1"/>
            <a:r>
              <a:rPr lang="en-GB" dirty="0"/>
              <a:t>JPA</a:t>
            </a:r>
          </a:p>
          <a:p>
            <a:pPr lvl="1"/>
            <a:r>
              <a:rPr lang="en-GB" dirty="0" err="1" smtClean="0"/>
              <a:t>InMemory</a:t>
            </a:r>
            <a:endParaRPr lang="en-GB" dirty="0" smtClean="0"/>
          </a:p>
          <a:p>
            <a:pPr lvl="1"/>
            <a:r>
              <a:rPr lang="en-GB" dirty="0" smtClean="0"/>
              <a:t>Spring Data JPA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16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385" y="1712366"/>
            <a:ext cx="4429125" cy="4657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572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DataRepository</a:t>
            </a:r>
            <a:endParaRPr lang="en-GB" dirty="0"/>
          </a:p>
          <a:p>
            <a:r>
              <a:rPr lang="en-GB" dirty="0" err="1"/>
              <a:t>TransactionalContext</a:t>
            </a:r>
            <a:endParaRPr lang="en-GB" dirty="0"/>
          </a:p>
          <a:p>
            <a:endParaRPr lang="en-GB" dirty="0"/>
          </a:p>
          <a:p>
            <a:r>
              <a:rPr lang="en-GB" dirty="0"/>
              <a:t>Interfaces for describing repository functionalities and transactions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47766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Controller needs to access the repositories</a:t>
            </a:r>
          </a:p>
          <a:p>
            <a:r>
              <a:rPr lang="en-GB" dirty="0"/>
              <a:t>But we have three repository implementations</a:t>
            </a:r>
          </a:p>
          <a:p>
            <a:pPr lvl="1"/>
            <a:r>
              <a:rPr lang="en-GB" dirty="0"/>
              <a:t>In memory</a:t>
            </a:r>
          </a:p>
          <a:p>
            <a:pPr lvl="1"/>
            <a:r>
              <a:rPr lang="en-GB" dirty="0"/>
              <a:t>Relational database thru JPA</a:t>
            </a:r>
          </a:p>
          <a:p>
            <a:pPr lvl="1"/>
            <a:r>
              <a:rPr lang="en-GB" dirty="0"/>
              <a:t>Relational database thru </a:t>
            </a:r>
            <a:r>
              <a:rPr lang="en-GB" dirty="0" err="1"/>
              <a:t>SpringData</a:t>
            </a:r>
            <a:endParaRPr lang="en-GB" dirty="0"/>
          </a:p>
          <a:p>
            <a:r>
              <a:rPr lang="en-GB" dirty="0"/>
              <a:t>Hide persistence details from rest of the code</a:t>
            </a:r>
          </a:p>
          <a:p>
            <a:pPr lvl="1"/>
            <a:r>
              <a:rPr lang="en-GB" dirty="0"/>
              <a:t>Interfaces</a:t>
            </a:r>
          </a:p>
          <a:p>
            <a:pPr lvl="1"/>
            <a:r>
              <a:rPr lang="en-GB" dirty="0" smtClean="0"/>
              <a:t>Dependency injection or Factories 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037663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19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616" y="260648"/>
            <a:ext cx="6912767" cy="633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6021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Example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20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58928"/>
          <a:stretch/>
        </p:blipFill>
        <p:spPr>
          <a:xfrm>
            <a:off x="143508" y="1092401"/>
            <a:ext cx="8676964" cy="12600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08" y="2534438"/>
            <a:ext cx="8925985" cy="19874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53" y="4689140"/>
            <a:ext cx="8899668" cy="2109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718183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 memory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InMemoryBaseRepository</a:t>
            </a:r>
            <a:endParaRPr lang="en-GB" dirty="0"/>
          </a:p>
          <a:p>
            <a:r>
              <a:rPr lang="en-GB" dirty="0" err="1"/>
              <a:t>InMemoryBaseRepositorywithLongPK</a:t>
            </a:r>
            <a:endParaRPr lang="en-GB" dirty="0"/>
          </a:p>
          <a:p>
            <a:endParaRPr lang="en-GB" dirty="0"/>
          </a:p>
          <a:p>
            <a:r>
              <a:rPr lang="en-GB" b="1" dirty="0"/>
              <a:t>For pedagogical testing purposes only!</a:t>
            </a:r>
            <a:endParaRPr lang="en-US" b="1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460434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err="1"/>
              <a:t>JpaBaseRepository</a:t>
            </a:r>
            <a:endParaRPr lang="en-GB" dirty="0"/>
          </a:p>
          <a:p>
            <a:pPr lvl="1"/>
            <a:r>
              <a:rPr lang="en-GB" dirty="0"/>
              <a:t>Generic repository implementation that expects the entity manager factory to be injected by a container, e.g., web server</a:t>
            </a:r>
          </a:p>
          <a:p>
            <a:r>
              <a:rPr lang="en-GB" dirty="0" err="1"/>
              <a:t>JpaNotRunningInContainerBaseRepository</a:t>
            </a:r>
            <a:endParaRPr lang="en-GB" dirty="0"/>
          </a:p>
          <a:p>
            <a:pPr lvl="1"/>
            <a:r>
              <a:rPr lang="en-GB" dirty="0"/>
              <a:t>For scenarios where the code is not running in a container but transaction is managed by the outside, e.g., controller</a:t>
            </a:r>
          </a:p>
          <a:p>
            <a:r>
              <a:rPr lang="en-GB" dirty="0" err="1"/>
              <a:t>JpaTransactionalBaseRepository</a:t>
            </a:r>
            <a:endParaRPr lang="en-GB" dirty="0"/>
          </a:p>
          <a:p>
            <a:pPr lvl="1"/>
            <a:r>
              <a:rPr lang="en-GB" dirty="0"/>
              <a:t>For scenarios not running in a container but transactions are created and committed by each repository method; the connection is also closed automatically in each method.</a:t>
            </a:r>
          </a:p>
          <a:p>
            <a:r>
              <a:rPr lang="en-GB" dirty="0" err="1"/>
              <a:t>JpaAutoTxRepository</a:t>
            </a:r>
            <a:endParaRPr lang="en-GB" dirty="0"/>
          </a:p>
          <a:p>
            <a:pPr lvl="1"/>
            <a:r>
              <a:rPr lang="en-GB" dirty="0"/>
              <a:t>Dual behaviour to either have outside transactional control or explicit transaction in each method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491364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Spring Data JPA repositories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799033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Resources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24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077" y="0"/>
            <a:ext cx="3887924" cy="792500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79368" y="2312876"/>
            <a:ext cx="3125080" cy="1476164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ounded Rectangle 9"/>
          <p:cNvSpPr/>
          <p:nvPr/>
        </p:nvSpPr>
        <p:spPr>
          <a:xfrm>
            <a:off x="5446248" y="6013237"/>
            <a:ext cx="3125080" cy="548111"/>
          </a:xfrm>
          <a:prstGeom prst="roundRect">
            <a:avLst/>
          </a:prstGeom>
          <a:solidFill>
            <a:srgbClr val="CC9900">
              <a:alpha val="20000"/>
            </a:srgb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622" y="1863700"/>
            <a:ext cx="4856579" cy="408557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111443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smtClean="0"/>
              <a:t>applicationContext.xml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176145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 smtClean="0"/>
              <a:t>applicationContext-persistence.xml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072795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Transaction control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Preferably use a container and managed transaction context, e.g., spring</a:t>
            </a:r>
          </a:p>
          <a:p>
            <a:endParaRPr lang="en-GB" dirty="0"/>
          </a:p>
          <a:p>
            <a:r>
              <a:rPr lang="en-GB" dirty="0" smtClean="0"/>
              <a:t>Optionally control the transaction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923292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Transaction control #1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b="1" dirty="0" smtClean="0"/>
              <a:t>Managed repositories</a:t>
            </a:r>
            <a:r>
              <a:rPr lang="pt-PT" dirty="0" smtClean="0"/>
              <a:t>, e.g., Spring </a:t>
            </a:r>
            <a:r>
              <a:rPr lang="pt-PT" dirty="0"/>
              <a:t>Framework</a:t>
            </a:r>
          </a:p>
          <a:p>
            <a:pPr lvl="1"/>
            <a:r>
              <a:rPr lang="pt-PT" dirty="0"/>
              <a:t>Spring will load the repositories</a:t>
            </a:r>
          </a:p>
          <a:p>
            <a:pPr lvl="1"/>
            <a:r>
              <a:rPr lang="pt-PT" dirty="0"/>
              <a:t>Spring will control the transactional context</a:t>
            </a:r>
          </a:p>
          <a:p>
            <a:pPr lvl="1"/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54409186"/>
      </p:ext>
    </p:extLst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PT" sz="2800" dirty="0"/>
              <a:t>All JPA repositories extend JpaBaseRepository to use spring transactional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29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808820"/>
            <a:ext cx="7019925" cy="1981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103" y="4293096"/>
            <a:ext cx="6105525" cy="1943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ight Arrow 7"/>
          <p:cNvSpPr/>
          <p:nvPr/>
        </p:nvSpPr>
        <p:spPr>
          <a:xfrm rot="11334279">
            <a:off x="4229963" y="326418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/>
          <p:cNvSpPr/>
          <p:nvPr/>
        </p:nvSpPr>
        <p:spPr>
          <a:xfrm rot="21438638">
            <a:off x="2480537" y="4561015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76668"/>
      </p:ext>
    </p:extLst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Spring Transactional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30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" y="1529122"/>
            <a:ext cx="8753475" cy="19145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2143" y="3633345"/>
            <a:ext cx="7172325" cy="300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390125" y="4816307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1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31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24" y="1670875"/>
            <a:ext cx="7677150" cy="1514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475" y="3861048"/>
            <a:ext cx="7172325" cy="2324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20879346">
            <a:off x="1547353" y="4289113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9062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SpringData</a:t>
            </a:r>
            <a:r>
              <a:rPr lang="en-GB" dirty="0"/>
              <a:t> repositories (2)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32</a:t>
            </a:fld>
            <a:endParaRPr lang="pt-PT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62" y="1458072"/>
            <a:ext cx="7153275" cy="50101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ight Arrow 6"/>
          <p:cNvSpPr/>
          <p:nvPr/>
        </p:nvSpPr>
        <p:spPr>
          <a:xfrm rot="11911389">
            <a:off x="4589232" y="5222389"/>
            <a:ext cx="684076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85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Transaction control #2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 smtClean="0"/>
              <a:t>Control the transaction yourself </a:t>
            </a:r>
            <a:r>
              <a:rPr lang="en-GB" dirty="0" smtClean="0"/>
              <a:t> using helper classes in the persistence package</a:t>
            </a: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631459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Full transaction control by the 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34</a:t>
            </a:fld>
            <a:endParaRPr lang="pt-PT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9120"/>
            <a:ext cx="9001125" cy="2133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525" y="3737609"/>
            <a:ext cx="7534275" cy="28765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921140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outside of the repository (1)</a:t>
            </a:r>
            <a:endParaRPr lang="pt-PT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Accepting a signup request needs to</a:t>
            </a:r>
          </a:p>
          <a:p>
            <a:pPr lvl="1"/>
            <a:r>
              <a:rPr lang="pt-PT" dirty="0"/>
              <a:t>Create a system user</a:t>
            </a:r>
          </a:p>
          <a:p>
            <a:pPr lvl="1"/>
            <a:r>
              <a:rPr lang="pt-PT" dirty="0"/>
              <a:t>Create a cafeteria user</a:t>
            </a:r>
          </a:p>
          <a:p>
            <a:pPr lvl="1"/>
            <a:r>
              <a:rPr lang="pt-PT" dirty="0"/>
              <a:t>Change the status of the signup request</a:t>
            </a:r>
          </a:p>
          <a:p>
            <a:r>
              <a:rPr lang="pt-PT" dirty="0"/>
              <a:t>Three different aggregates!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87722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(2): use </a:t>
            </a:r>
            <a:r>
              <a:rPr lang="en-GB" dirty="0" err="1"/>
              <a:t>JpaAutoTxRepository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36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50" y="1572653"/>
            <a:ext cx="8429625" cy="16859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2950354"/>
            <a:ext cx="8934450" cy="45148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1640" y="4914899"/>
            <a:ext cx="9001125" cy="3124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419234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37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87" y="2128837"/>
            <a:ext cx="8810625" cy="26003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27996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Transaction control (3): explicit control by the controller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38</a:t>
            </a:fld>
            <a:endParaRPr lang="pt-PT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" y="1506276"/>
            <a:ext cx="9058275" cy="48672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5950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Infrastructure </a:t>
            </a:r>
            <a:r>
              <a:rPr lang="en-GB" dirty="0" err="1" smtClean="0"/>
              <a:t>Authz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39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789141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40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r="24467"/>
          <a:stretch/>
        </p:blipFill>
        <p:spPr>
          <a:xfrm>
            <a:off x="5662435" y="383648"/>
            <a:ext cx="3554081" cy="64674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5" y="1412777"/>
            <a:ext cx="5951789" cy="5436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8994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 invariants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ensurePasswordHasAtLeastOneDigitAnd6CharactersLong()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Password("abcdefgh1");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ensurePasswordsSmallerThan6CharactersAreNotAllowed()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Password("ab1c");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@Test(expected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IllegalArgumentException.class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public void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ensurePasswordsWithoutDigitsAreNotAllowed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new Password("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abcdefgh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");</a:t>
            </a:r>
          </a:p>
          <a:p>
            <a:pPr marL="118872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683122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Domain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class Password {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public Password(String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throw new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IllegalStateException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thePassword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password;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private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boolean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meetsMinimumRequirements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(String password) 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if 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Strings.isNullOrEmpty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password.length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 &lt; 6)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|| !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Strings.containsDigit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(password)) 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{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    return false;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118872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	return true;</a:t>
            </a:r>
          </a:p>
          <a:p>
            <a:pPr marL="118872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08134332"/>
      </p:ext>
    </p:extLst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Infrastructure Pub/Sub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777223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091329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Abstract service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4829" y="1774825"/>
            <a:ext cx="5794342" cy="46259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839945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In Process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3950" y="1958975"/>
            <a:ext cx="6896100" cy="425767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971916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In Process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Client code uses </a:t>
            </a:r>
            <a:r>
              <a:rPr lang="en-GB" dirty="0" err="1" smtClean="0"/>
              <a:t>InProcessEventPublisher</a:t>
            </a:r>
            <a:r>
              <a:rPr lang="en-GB" dirty="0" smtClean="0"/>
              <a:t> or </a:t>
            </a:r>
            <a:r>
              <a:rPr lang="en-GB" dirty="0" err="1" smtClean="0"/>
              <a:t>InProcessEventDispatcher</a:t>
            </a:r>
            <a:r>
              <a:rPr lang="en-GB" dirty="0" smtClean="0"/>
              <a:t> via static instance() method or via dependency injection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47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84569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48</a:t>
            </a:fld>
            <a:endParaRPr lang="pt-PT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571500" y="-41275"/>
            <a:ext cx="8572500" cy="689927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0" y="8620"/>
            <a:ext cx="8229600" cy="1252538"/>
          </a:xfrm>
        </p:spPr>
        <p:txBody>
          <a:bodyPr/>
          <a:lstStyle/>
          <a:p>
            <a:r>
              <a:rPr lang="en-GB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Simple Persistent</a:t>
            </a:r>
            <a:endParaRPr lang="en-US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94132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Simple Persistent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Use only via dependency injection</a:t>
            </a:r>
          </a:p>
          <a:p>
            <a:r>
              <a:rPr lang="en-GB" dirty="0" smtClean="0"/>
              <a:t>Domain entities must be registered in persistence.xml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49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162552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50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3765425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Maven</a:t>
            </a:r>
          </a:p>
          <a:p>
            <a:pPr lvl="1"/>
            <a:r>
              <a:rPr lang="en-GB" dirty="0"/>
              <a:t>Dependency manager</a:t>
            </a:r>
          </a:p>
          <a:p>
            <a:pPr lvl="1"/>
            <a:r>
              <a:rPr lang="en-GB" dirty="0" err="1"/>
              <a:t>Artifact</a:t>
            </a:r>
            <a:r>
              <a:rPr lang="en-GB" dirty="0"/>
              <a:t> (jar) repository </a:t>
            </a:r>
          </a:p>
          <a:p>
            <a:pPr lvl="1"/>
            <a:r>
              <a:rPr lang="en-GB" dirty="0"/>
              <a:t>Build automation</a:t>
            </a:r>
          </a:p>
          <a:p>
            <a:pPr lvl="1"/>
            <a:r>
              <a:rPr lang="en-GB" dirty="0"/>
              <a:t>Other tasks, e.g., deploy, run</a:t>
            </a:r>
          </a:p>
          <a:p>
            <a:r>
              <a:rPr lang="en-GB" dirty="0"/>
              <a:t>Works for Eclipse, </a:t>
            </a:r>
            <a:r>
              <a:rPr lang="en-GB" dirty="0" err="1"/>
              <a:t>InteliJ</a:t>
            </a:r>
            <a:r>
              <a:rPr lang="en-GB" dirty="0"/>
              <a:t>, </a:t>
            </a:r>
            <a:r>
              <a:rPr lang="en-GB" dirty="0" err="1"/>
              <a:t>Netbeans</a:t>
            </a:r>
            <a:endParaRPr lang="en-GB" dirty="0"/>
          </a:p>
          <a:p>
            <a:r>
              <a:rPr lang="en-GB" dirty="0"/>
              <a:t>Pom.xml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51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8788637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52</a:t>
            </a:fld>
            <a:endParaRPr lang="pt-PT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6" y="-7414"/>
            <a:ext cx="13247440" cy="745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3705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A9932-4E76-455F-8E1A-2CC10C89B014}" type="slidenum">
              <a:rPr lang="pt-PT" smtClean="0"/>
              <a:pPr/>
              <a:t>53</a:t>
            </a:fld>
            <a:endParaRPr lang="pt-PT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" y="0"/>
            <a:ext cx="12752738" cy="7173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304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y ISEP (Paulo Sousa)">
  <a:themeElements>
    <a:clrScheme name="Module">
      <a:dk1>
        <a:sysClr val="windowText" lastClr="000000"/>
      </a:dk1>
      <a:lt1>
        <a:sysClr val="window" lastClr="FFFFFF"/>
      </a:lt1>
      <a:dk2>
        <a:srgbClr val="5A6378"/>
      </a:dk2>
      <a:lt2>
        <a:srgbClr val="D4D4D6"/>
      </a:lt2>
      <a:accent1>
        <a:srgbClr val="F0AD00"/>
      </a:accent1>
      <a:accent2>
        <a:srgbClr val="60B5CC"/>
      </a:accent2>
      <a:accent3>
        <a:srgbClr val="E66C7D"/>
      </a:accent3>
      <a:accent4>
        <a:srgbClr val="6BB76D"/>
      </a:accent4>
      <a:accent5>
        <a:srgbClr val="E88651"/>
      </a:accent5>
      <a:accent6>
        <a:srgbClr val="C64847"/>
      </a:accent6>
      <a:hlink>
        <a:srgbClr val="168BBA"/>
      </a:hlink>
      <a:folHlink>
        <a:srgbClr val="680000"/>
      </a:folHlink>
    </a:clrScheme>
    <a:fontScheme name="Module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Modu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7500"/>
                <a:satMod val="137000"/>
              </a:schemeClr>
            </a:gs>
            <a:gs pos="55000">
              <a:schemeClr val="phClr">
                <a:shade val="69000"/>
                <a:satMod val="137000"/>
              </a:schemeClr>
            </a:gs>
            <a:gs pos="100000">
              <a:schemeClr val="phClr">
                <a:shade val="98000"/>
                <a:satMod val="137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300000"/>
              </a:schemeClr>
            </a:gs>
            <a:gs pos="12000">
              <a:schemeClr val="phClr">
                <a:tint val="48000"/>
                <a:satMod val="300000"/>
              </a:schemeClr>
            </a:gs>
            <a:gs pos="20000">
              <a:schemeClr val="phClr">
                <a:tint val="49000"/>
                <a:satMod val="30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10000" t="-25000" r="10000" b="125000"/>
          </a:path>
        </a:gradFill>
        <a:blipFill>
          <a:blip xmlns:r="http://schemas.openxmlformats.org/officeDocument/2006/relationships" r:embed="rId1">
            <a:duotone>
              <a:schemeClr val="phClr">
                <a:shade val="75000"/>
                <a:satMod val="105000"/>
              </a:schemeClr>
              <a:schemeClr val="phClr">
                <a:tint val="95000"/>
                <a:satMod val="105000"/>
              </a:schemeClr>
            </a:duotone>
          </a:blip>
          <a:tile tx="0" ty="0" sx="38000" sy="38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my ISEP (Paulo Sousa)</Template>
  <TotalTime>27527</TotalTime>
  <Words>845</Words>
  <Application>Microsoft Office PowerPoint</Application>
  <PresentationFormat>On-screen Show (4:3)</PresentationFormat>
  <Paragraphs>276</Paragraphs>
  <Slides>53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Corbel</vt:lpstr>
      <vt:lpstr>Courier New</vt:lpstr>
      <vt:lpstr>Wingdings</vt:lpstr>
      <vt:lpstr>Wingdings 2</vt:lpstr>
      <vt:lpstr>Wingdings 3</vt:lpstr>
      <vt:lpstr>my ISEP (Paulo Sousa)</vt:lpstr>
      <vt:lpstr>EAPLI Framework</vt:lpstr>
      <vt:lpstr>What it is</vt:lpstr>
      <vt:lpstr>Components </vt:lpstr>
      <vt:lpstr>Dependencies</vt:lpstr>
      <vt:lpstr>Core</vt:lpstr>
      <vt:lpstr>DDD</vt:lpstr>
      <vt:lpstr>Common patterns</vt:lpstr>
      <vt:lpstr>Utilities</vt:lpstr>
      <vt:lpstr>Utilities</vt:lpstr>
      <vt:lpstr>Presentation</vt:lpstr>
      <vt:lpstr>Presentation</vt:lpstr>
      <vt:lpstr>PowerPoint Presentation</vt:lpstr>
      <vt:lpstr>PowerPoint Presentation</vt:lpstr>
      <vt:lpstr>PowerPoint Presentation</vt:lpstr>
      <vt:lpstr>Core</vt:lpstr>
      <vt:lpstr>Persistence</vt:lpstr>
      <vt:lpstr>Repositories</vt:lpstr>
      <vt:lpstr>Persistence</vt:lpstr>
      <vt:lpstr>PowerPoint Presentation</vt:lpstr>
      <vt:lpstr>Example</vt:lpstr>
      <vt:lpstr>In memory Repositories</vt:lpstr>
      <vt:lpstr>JPA Repositories</vt:lpstr>
      <vt:lpstr>Spring Data JPA repositories</vt:lpstr>
      <vt:lpstr>Resources </vt:lpstr>
      <vt:lpstr>applicationContext.xml</vt:lpstr>
      <vt:lpstr>applicationContext-persistence.xml</vt:lpstr>
      <vt:lpstr>Transaction control</vt:lpstr>
      <vt:lpstr>Transaction control #1</vt:lpstr>
      <vt:lpstr>All JPA repositories extend JpaBaseRepository to use spring transactional control</vt:lpstr>
      <vt:lpstr>Spring Transactional control</vt:lpstr>
      <vt:lpstr>SpringData repositories (1)</vt:lpstr>
      <vt:lpstr>SpringData repositories (2)</vt:lpstr>
      <vt:lpstr>Transaction control #2</vt:lpstr>
      <vt:lpstr>Full transaction control by the repository</vt:lpstr>
      <vt:lpstr>Transaction control outside of the repository (1)</vt:lpstr>
      <vt:lpstr>Transaction control (2): use JpaAutoTxRepository</vt:lpstr>
      <vt:lpstr>Transaction control (3): explicit control by the controller</vt:lpstr>
      <vt:lpstr>Transaction control (3): explicit control by the controller</vt:lpstr>
      <vt:lpstr>Infrastructure Authz</vt:lpstr>
      <vt:lpstr>User model</vt:lpstr>
      <vt:lpstr>Domain invariants</vt:lpstr>
      <vt:lpstr>Domain</vt:lpstr>
      <vt:lpstr>Infrastructure Pub/Sub</vt:lpstr>
      <vt:lpstr>PowerPoint Presentation</vt:lpstr>
      <vt:lpstr>Abstract service</vt:lpstr>
      <vt:lpstr>In Process</vt:lpstr>
      <vt:lpstr>In Process</vt:lpstr>
      <vt:lpstr>Simple Persistent</vt:lpstr>
      <vt:lpstr>Simple Persistent</vt:lpstr>
      <vt:lpstr>PowerPoint Presentation</vt:lpstr>
      <vt:lpstr>Build</vt:lpstr>
      <vt:lpstr>PowerPoint Presentation</vt:lpstr>
      <vt:lpstr>Build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Base PL</dc:title>
  <dc:creator>PAG@isep.ipp.pt;nmb@isep.ipp.pt</dc:creator>
  <cp:keywords>EAPLI</cp:keywords>
  <cp:lastModifiedBy>Paulo Gandra de Sousa</cp:lastModifiedBy>
  <cp:revision>1722</cp:revision>
  <dcterms:created xsi:type="dcterms:W3CDTF">2009-02-23T00:15:06Z</dcterms:created>
  <dcterms:modified xsi:type="dcterms:W3CDTF">2018-06-14T14:37:08Z</dcterms:modified>
</cp:coreProperties>
</file>