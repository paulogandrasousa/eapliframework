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1"/>
  </p:sldMasterIdLst>
  <p:notesMasterIdLst>
    <p:notesMasterId r:id="rId54"/>
  </p:notesMasterIdLst>
  <p:handoutMasterIdLst>
    <p:handoutMasterId r:id="rId55"/>
  </p:handoutMasterIdLst>
  <p:sldIdLst>
    <p:sldId id="367" r:id="rId2"/>
    <p:sldId id="417" r:id="rId3"/>
    <p:sldId id="418" r:id="rId4"/>
    <p:sldId id="419" r:id="rId5"/>
    <p:sldId id="412" r:id="rId6"/>
    <p:sldId id="376" r:id="rId7"/>
    <p:sldId id="432" r:id="rId8"/>
    <p:sldId id="375" r:id="rId9"/>
    <p:sldId id="381" r:id="rId10"/>
    <p:sldId id="382" r:id="rId11"/>
    <p:sldId id="383" r:id="rId12"/>
    <p:sldId id="384" r:id="rId13"/>
    <p:sldId id="385" r:id="rId14"/>
    <p:sldId id="415" r:id="rId15"/>
    <p:sldId id="377" r:id="rId16"/>
    <p:sldId id="378" r:id="rId17"/>
    <p:sldId id="434" r:id="rId18"/>
    <p:sldId id="435" r:id="rId19"/>
    <p:sldId id="436" r:id="rId20"/>
    <p:sldId id="379" r:id="rId21"/>
    <p:sldId id="380" r:id="rId22"/>
    <p:sldId id="423" r:id="rId23"/>
    <p:sldId id="430" r:id="rId24"/>
    <p:sldId id="433" r:id="rId25"/>
    <p:sldId id="431" r:id="rId26"/>
    <p:sldId id="422" r:id="rId27"/>
    <p:sldId id="424" r:id="rId28"/>
    <p:sldId id="425" r:id="rId29"/>
    <p:sldId id="426" r:id="rId30"/>
    <p:sldId id="427" r:id="rId31"/>
    <p:sldId id="428" r:id="rId32"/>
    <p:sldId id="429" r:id="rId33"/>
    <p:sldId id="399" r:id="rId34"/>
    <p:sldId id="400" r:id="rId35"/>
    <p:sldId id="409" r:id="rId36"/>
    <p:sldId id="410" r:id="rId37"/>
    <p:sldId id="411" r:id="rId38"/>
    <p:sldId id="413" r:id="rId39"/>
    <p:sldId id="347" r:id="rId40"/>
    <p:sldId id="368" r:id="rId41"/>
    <p:sldId id="335" r:id="rId42"/>
    <p:sldId id="420" r:id="rId43"/>
    <p:sldId id="439" r:id="rId44"/>
    <p:sldId id="421" r:id="rId45"/>
    <p:sldId id="437" r:id="rId46"/>
    <p:sldId id="440" r:id="rId47"/>
    <p:sldId id="438" r:id="rId48"/>
    <p:sldId id="441" r:id="rId49"/>
    <p:sldId id="414" r:id="rId50"/>
    <p:sldId id="350" r:id="rId51"/>
    <p:sldId id="351" r:id="rId52"/>
    <p:sldId id="337" r:id="rId53"/>
  </p:sldIdLst>
  <p:sldSz cx="9144000" cy="6858000" type="screen4x3"/>
  <p:notesSz cx="10234613" cy="70993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uno Silva" initials="NS" lastIdx="3" clrIdx="0"/>
  <p:cmAuthor id="1" name="Paulo Gandra de Sousa" initials="PGdS" lastIdx="17" clrIdx="1">
    <p:extLst/>
  </p:cmAuthor>
  <p:cmAuthor id="2" name="Jorge Santos" initials="AJS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66" autoAdjust="0"/>
    <p:restoredTop sz="81958" autoAdjust="0"/>
  </p:normalViewPr>
  <p:slideViewPr>
    <p:cSldViewPr>
      <p:cViewPr varScale="1">
        <p:scale>
          <a:sx n="92" d="100"/>
          <a:sy n="92" d="100"/>
        </p:scale>
        <p:origin x="216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16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5754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6-03-25T15:40:34.930" idx="6">
    <p:pos x="10" y="10"/>
    <p:text>poderia ser atualizado para nao aparecer ExpenseType, mas de momento não é preocupante pois mostra o principio de abstract factory</p:text>
    <p:extLst>
      <p:ext uri="{C676402C-5697-4E1C-873F-D02D1690AC5C}">
        <p15:threadingInfo xmlns:p15="http://schemas.microsoft.com/office/powerpoint/2012/main" timeZoneBias="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435444" cy="354495"/>
          </a:xfrm>
          <a:prstGeom prst="rect">
            <a:avLst/>
          </a:prstGeom>
        </p:spPr>
        <p:txBody>
          <a:bodyPr vert="horz" lIns="95070" tIns="47535" rIns="95070" bIns="4753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796949" y="1"/>
            <a:ext cx="4435444" cy="354495"/>
          </a:xfrm>
          <a:prstGeom prst="rect">
            <a:avLst/>
          </a:prstGeom>
        </p:spPr>
        <p:txBody>
          <a:bodyPr vert="horz" lIns="95070" tIns="47535" rIns="95070" bIns="47535" rtlCol="0"/>
          <a:lstStyle>
            <a:lvl1pPr algn="r">
              <a:defRPr sz="1200"/>
            </a:lvl1pPr>
          </a:lstStyle>
          <a:p>
            <a:fld id="{DF9BBED1-C878-4044-B70F-841416CAC1AE}" type="datetimeFigureOut">
              <a:rPr lang="en-US" smtClean="0"/>
              <a:pPr/>
              <a:t>6/12/2018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6743632"/>
            <a:ext cx="4435444" cy="354495"/>
          </a:xfrm>
          <a:prstGeom prst="rect">
            <a:avLst/>
          </a:prstGeom>
        </p:spPr>
        <p:txBody>
          <a:bodyPr vert="horz" lIns="95070" tIns="47535" rIns="95070" bIns="4753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796949" y="6743632"/>
            <a:ext cx="4435444" cy="354495"/>
          </a:xfrm>
          <a:prstGeom prst="rect">
            <a:avLst/>
          </a:prstGeom>
        </p:spPr>
        <p:txBody>
          <a:bodyPr vert="horz" lIns="95070" tIns="47535" rIns="95070" bIns="47535" rtlCol="0" anchor="b"/>
          <a:lstStyle>
            <a:lvl1pPr algn="r">
              <a:defRPr sz="1200"/>
            </a:lvl1pPr>
          </a:lstStyle>
          <a:p>
            <a:fld id="{D7D9A969-75A7-403D-A555-777A6053A7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313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434998" cy="354965"/>
          </a:xfrm>
          <a:prstGeom prst="rect">
            <a:avLst/>
          </a:prstGeom>
        </p:spPr>
        <p:txBody>
          <a:bodyPr vert="horz" lIns="102980" tIns="51490" rIns="102980" bIns="51490" rtlCol="0"/>
          <a:lstStyle>
            <a:lvl1pPr algn="l">
              <a:defRPr sz="14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9" y="1"/>
            <a:ext cx="4434998" cy="354965"/>
          </a:xfrm>
          <a:prstGeom prst="rect">
            <a:avLst/>
          </a:prstGeom>
        </p:spPr>
        <p:txBody>
          <a:bodyPr vert="horz" lIns="102980" tIns="51490" rIns="102980" bIns="51490" rtlCol="0"/>
          <a:lstStyle>
            <a:lvl1pPr algn="r">
              <a:defRPr sz="1400"/>
            </a:lvl1pPr>
          </a:lstStyle>
          <a:p>
            <a:fld id="{754636F6-6535-4DFB-8291-07E7DDBE6239}" type="datetimeFigureOut">
              <a:rPr lang="pt-PT" smtClean="0"/>
              <a:pPr/>
              <a:t>12/06/2018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44863" y="531813"/>
            <a:ext cx="3544887" cy="2660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2980" tIns="51490" rIns="102980" bIns="5149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3" y="3372168"/>
            <a:ext cx="8187690" cy="3194685"/>
          </a:xfrm>
          <a:prstGeom prst="rect">
            <a:avLst/>
          </a:prstGeom>
        </p:spPr>
        <p:txBody>
          <a:bodyPr vert="horz" lIns="102980" tIns="51490" rIns="102980" bIns="5149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743104"/>
            <a:ext cx="4434998" cy="354965"/>
          </a:xfrm>
          <a:prstGeom prst="rect">
            <a:avLst/>
          </a:prstGeom>
        </p:spPr>
        <p:txBody>
          <a:bodyPr vert="horz" lIns="102980" tIns="51490" rIns="102980" bIns="51490" rtlCol="0" anchor="b"/>
          <a:lstStyle>
            <a:lvl1pPr algn="l">
              <a:defRPr sz="14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9" y="6743104"/>
            <a:ext cx="4434998" cy="354965"/>
          </a:xfrm>
          <a:prstGeom prst="rect">
            <a:avLst/>
          </a:prstGeom>
        </p:spPr>
        <p:txBody>
          <a:bodyPr vert="horz" lIns="102980" tIns="51490" rIns="102980" bIns="51490" rtlCol="0" anchor="b"/>
          <a:lstStyle>
            <a:lvl1pPr algn="r">
              <a:defRPr sz="1400"/>
            </a:lvl1pPr>
          </a:lstStyle>
          <a:p>
            <a:fld id="{54F76911-F589-44E9-8155-61F0472246BF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41425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3 packages </a:t>
            </a:r>
            <a:r>
              <a:rPr lang="en-GB" dirty="0" err="1"/>
              <a:t>principais</a:t>
            </a:r>
            <a:endParaRPr lang="en-GB" dirty="0"/>
          </a:p>
          <a:p>
            <a:pPr marL="171450" indent="-171450">
              <a:buFontTx/>
              <a:buChar char="-"/>
            </a:pPr>
            <a:r>
              <a:rPr lang="en-GB" dirty="0"/>
              <a:t>Model – classes </a:t>
            </a:r>
            <a:r>
              <a:rPr lang="en-GB" dirty="0" err="1"/>
              <a:t>utilitárias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podem</a:t>
            </a:r>
            <a:r>
              <a:rPr lang="en-GB" dirty="0"/>
              <a:t> </a:t>
            </a:r>
            <a:r>
              <a:rPr lang="en-GB" dirty="0" err="1"/>
              <a:t>ser</a:t>
            </a:r>
            <a:r>
              <a:rPr lang="en-GB" dirty="0"/>
              <a:t> </a:t>
            </a:r>
            <a:r>
              <a:rPr lang="en-GB" dirty="0" err="1"/>
              <a:t>usadas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qq</a:t>
            </a:r>
            <a:r>
              <a:rPr lang="en-GB" dirty="0"/>
              <a:t> </a:t>
            </a:r>
            <a:r>
              <a:rPr lang="en-GB" dirty="0" err="1"/>
              <a:t>modelo</a:t>
            </a:r>
            <a:r>
              <a:rPr lang="en-GB" dirty="0"/>
              <a:t>, ex., «value object» Money</a:t>
            </a:r>
          </a:p>
          <a:p>
            <a:pPr marL="171450" indent="-171450">
              <a:buFontTx/>
              <a:buChar char="-"/>
            </a:pPr>
            <a:r>
              <a:rPr lang="en-GB" dirty="0"/>
              <a:t>Patterns – </a:t>
            </a:r>
            <a:r>
              <a:rPr lang="en-GB" dirty="0" err="1"/>
              <a:t>essencialmente</a:t>
            </a:r>
            <a:r>
              <a:rPr lang="en-GB" dirty="0"/>
              <a:t> interfaces para “</a:t>
            </a:r>
            <a:r>
              <a:rPr lang="en-GB" dirty="0" err="1"/>
              <a:t>marcação</a:t>
            </a:r>
            <a:r>
              <a:rPr lang="en-GB" dirty="0"/>
              <a:t>” de classes DDD. </a:t>
            </a:r>
            <a:r>
              <a:rPr lang="en-GB" dirty="0" err="1"/>
              <a:t>Possui</a:t>
            </a:r>
            <a:r>
              <a:rPr lang="en-GB" dirty="0"/>
              <a:t> </a:t>
            </a:r>
            <a:r>
              <a:rPr lang="en-GB" dirty="0" err="1"/>
              <a:t>subpackage</a:t>
            </a:r>
            <a:r>
              <a:rPr lang="en-GB" dirty="0"/>
              <a:t> com </a:t>
            </a:r>
            <a:r>
              <a:rPr lang="en-GB" dirty="0" err="1"/>
              <a:t>implementações</a:t>
            </a:r>
            <a:r>
              <a:rPr lang="en-GB" dirty="0"/>
              <a:t> </a:t>
            </a:r>
            <a:r>
              <a:rPr lang="en-GB" dirty="0" err="1"/>
              <a:t>auxiliares</a:t>
            </a:r>
            <a:endParaRPr lang="en-GB" dirty="0"/>
          </a:p>
          <a:p>
            <a:pPr marL="171450" indent="-171450">
              <a:buFontTx/>
              <a:buChar char="-"/>
            </a:pPr>
            <a:r>
              <a:rPr lang="en-GB" dirty="0" err="1"/>
              <a:t>Persistence.jpa</a:t>
            </a:r>
            <a:r>
              <a:rPr lang="en-GB" dirty="0"/>
              <a:t> – </a:t>
            </a:r>
            <a:r>
              <a:rPr lang="en-GB" dirty="0" err="1"/>
              <a:t>classe</a:t>
            </a:r>
            <a:r>
              <a:rPr lang="en-GB" dirty="0"/>
              <a:t> </a:t>
            </a:r>
            <a:r>
              <a:rPr lang="en-GB" dirty="0" err="1"/>
              <a:t>utilitária</a:t>
            </a:r>
            <a:r>
              <a:rPr lang="en-GB" dirty="0"/>
              <a:t> </a:t>
            </a:r>
            <a:r>
              <a:rPr lang="en-GB" dirty="0" err="1"/>
              <a:t>JpaRepository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F76911-F589-44E9-8155-61F0472246BF}" type="slidenum">
              <a:rPr lang="pt-PT" smtClean="0"/>
              <a:pPr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94114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3 packages </a:t>
            </a:r>
            <a:r>
              <a:rPr lang="en-GB" dirty="0" err="1"/>
              <a:t>principais</a:t>
            </a:r>
            <a:endParaRPr lang="en-GB" dirty="0"/>
          </a:p>
          <a:p>
            <a:pPr marL="171450" indent="-171450">
              <a:buFontTx/>
              <a:buChar char="-"/>
            </a:pPr>
            <a:r>
              <a:rPr lang="en-GB" dirty="0"/>
              <a:t>Model – classes </a:t>
            </a:r>
            <a:r>
              <a:rPr lang="en-GB" dirty="0" err="1"/>
              <a:t>utilitárias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podem</a:t>
            </a:r>
            <a:r>
              <a:rPr lang="en-GB" dirty="0"/>
              <a:t> </a:t>
            </a:r>
            <a:r>
              <a:rPr lang="en-GB" dirty="0" err="1"/>
              <a:t>ser</a:t>
            </a:r>
            <a:r>
              <a:rPr lang="en-GB" dirty="0"/>
              <a:t> </a:t>
            </a:r>
            <a:r>
              <a:rPr lang="en-GB" dirty="0" err="1"/>
              <a:t>usadas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qq</a:t>
            </a:r>
            <a:r>
              <a:rPr lang="en-GB" dirty="0"/>
              <a:t> </a:t>
            </a:r>
            <a:r>
              <a:rPr lang="en-GB" dirty="0" err="1"/>
              <a:t>modelo</a:t>
            </a:r>
            <a:r>
              <a:rPr lang="en-GB" dirty="0"/>
              <a:t>, ex., «value object» Money</a:t>
            </a:r>
          </a:p>
          <a:p>
            <a:pPr marL="171450" indent="-171450">
              <a:buFontTx/>
              <a:buChar char="-"/>
            </a:pPr>
            <a:r>
              <a:rPr lang="en-GB" dirty="0"/>
              <a:t>Patterns – </a:t>
            </a:r>
            <a:r>
              <a:rPr lang="en-GB" dirty="0" err="1"/>
              <a:t>essencialmente</a:t>
            </a:r>
            <a:r>
              <a:rPr lang="en-GB" dirty="0"/>
              <a:t> interfaces para “</a:t>
            </a:r>
            <a:r>
              <a:rPr lang="en-GB" dirty="0" err="1"/>
              <a:t>marcação</a:t>
            </a:r>
            <a:r>
              <a:rPr lang="en-GB" dirty="0"/>
              <a:t>” de classes DDD. </a:t>
            </a:r>
            <a:r>
              <a:rPr lang="en-GB" dirty="0" err="1"/>
              <a:t>Possui</a:t>
            </a:r>
            <a:r>
              <a:rPr lang="en-GB" dirty="0"/>
              <a:t> </a:t>
            </a:r>
            <a:r>
              <a:rPr lang="en-GB" dirty="0" err="1"/>
              <a:t>subpackage</a:t>
            </a:r>
            <a:r>
              <a:rPr lang="en-GB" dirty="0"/>
              <a:t> com </a:t>
            </a:r>
            <a:r>
              <a:rPr lang="en-GB" dirty="0" err="1"/>
              <a:t>implementações</a:t>
            </a:r>
            <a:r>
              <a:rPr lang="en-GB" dirty="0"/>
              <a:t> </a:t>
            </a:r>
            <a:r>
              <a:rPr lang="en-GB" dirty="0" err="1"/>
              <a:t>auxiliares</a:t>
            </a:r>
            <a:endParaRPr lang="en-GB" dirty="0"/>
          </a:p>
          <a:p>
            <a:pPr marL="171450" indent="-171450">
              <a:buFontTx/>
              <a:buChar char="-"/>
            </a:pPr>
            <a:r>
              <a:rPr lang="en-GB" dirty="0" err="1"/>
              <a:t>Persistence.jpa</a:t>
            </a:r>
            <a:r>
              <a:rPr lang="en-GB" dirty="0"/>
              <a:t> – </a:t>
            </a:r>
            <a:r>
              <a:rPr lang="en-GB" dirty="0" err="1"/>
              <a:t>classe</a:t>
            </a:r>
            <a:r>
              <a:rPr lang="en-GB" dirty="0"/>
              <a:t> </a:t>
            </a:r>
            <a:r>
              <a:rPr lang="en-GB" dirty="0" err="1"/>
              <a:t>utilitária</a:t>
            </a:r>
            <a:r>
              <a:rPr lang="en-GB" dirty="0"/>
              <a:t> </a:t>
            </a:r>
            <a:r>
              <a:rPr lang="en-GB" dirty="0" err="1"/>
              <a:t>JpaRepository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F76911-F589-44E9-8155-61F0472246BF}" type="slidenum">
              <a:rPr lang="pt-PT" smtClean="0"/>
              <a:pPr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26806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3 packages </a:t>
            </a:r>
            <a:r>
              <a:rPr lang="en-GB" dirty="0" err="1"/>
              <a:t>principais</a:t>
            </a:r>
            <a:endParaRPr lang="en-GB" dirty="0"/>
          </a:p>
          <a:p>
            <a:pPr marL="171450" indent="-171450">
              <a:buFontTx/>
              <a:buChar char="-"/>
            </a:pPr>
            <a:r>
              <a:rPr lang="en-GB" dirty="0"/>
              <a:t>Model – classes </a:t>
            </a:r>
            <a:r>
              <a:rPr lang="en-GB" dirty="0" err="1"/>
              <a:t>utilitárias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podem</a:t>
            </a:r>
            <a:r>
              <a:rPr lang="en-GB" dirty="0"/>
              <a:t> </a:t>
            </a:r>
            <a:r>
              <a:rPr lang="en-GB" dirty="0" err="1"/>
              <a:t>ser</a:t>
            </a:r>
            <a:r>
              <a:rPr lang="en-GB" dirty="0"/>
              <a:t> </a:t>
            </a:r>
            <a:r>
              <a:rPr lang="en-GB" dirty="0" err="1"/>
              <a:t>usadas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qq</a:t>
            </a:r>
            <a:r>
              <a:rPr lang="en-GB" dirty="0"/>
              <a:t> </a:t>
            </a:r>
            <a:r>
              <a:rPr lang="en-GB" dirty="0" err="1"/>
              <a:t>modelo</a:t>
            </a:r>
            <a:r>
              <a:rPr lang="en-GB" dirty="0"/>
              <a:t>, ex., «value object» Money</a:t>
            </a:r>
          </a:p>
          <a:p>
            <a:pPr marL="171450" indent="-171450">
              <a:buFontTx/>
              <a:buChar char="-"/>
            </a:pPr>
            <a:r>
              <a:rPr lang="en-GB" dirty="0"/>
              <a:t>Patterns – </a:t>
            </a:r>
            <a:r>
              <a:rPr lang="en-GB" dirty="0" err="1"/>
              <a:t>essencialmente</a:t>
            </a:r>
            <a:r>
              <a:rPr lang="en-GB" dirty="0"/>
              <a:t> interfaces para “</a:t>
            </a:r>
            <a:r>
              <a:rPr lang="en-GB" dirty="0" err="1"/>
              <a:t>marcação</a:t>
            </a:r>
            <a:r>
              <a:rPr lang="en-GB" dirty="0"/>
              <a:t>” de classes DDD. </a:t>
            </a:r>
            <a:r>
              <a:rPr lang="en-GB" dirty="0" err="1"/>
              <a:t>Possui</a:t>
            </a:r>
            <a:r>
              <a:rPr lang="en-GB" dirty="0"/>
              <a:t> </a:t>
            </a:r>
            <a:r>
              <a:rPr lang="en-GB" dirty="0" err="1"/>
              <a:t>subpackage</a:t>
            </a:r>
            <a:r>
              <a:rPr lang="en-GB" dirty="0"/>
              <a:t> com </a:t>
            </a:r>
            <a:r>
              <a:rPr lang="en-GB" dirty="0" err="1"/>
              <a:t>implementações</a:t>
            </a:r>
            <a:r>
              <a:rPr lang="en-GB" dirty="0"/>
              <a:t> </a:t>
            </a:r>
            <a:r>
              <a:rPr lang="en-GB" dirty="0" err="1"/>
              <a:t>auxiliares</a:t>
            </a:r>
            <a:endParaRPr lang="en-GB" dirty="0"/>
          </a:p>
          <a:p>
            <a:pPr marL="171450" indent="-171450">
              <a:buFontTx/>
              <a:buChar char="-"/>
            </a:pPr>
            <a:r>
              <a:rPr lang="en-GB" dirty="0" err="1"/>
              <a:t>Persistence.jpa</a:t>
            </a:r>
            <a:r>
              <a:rPr lang="en-GB" dirty="0"/>
              <a:t> – </a:t>
            </a:r>
            <a:r>
              <a:rPr lang="en-GB" dirty="0" err="1"/>
              <a:t>classe</a:t>
            </a:r>
            <a:r>
              <a:rPr lang="en-GB" dirty="0"/>
              <a:t> </a:t>
            </a:r>
            <a:r>
              <a:rPr lang="en-GB" dirty="0" err="1"/>
              <a:t>utilitária</a:t>
            </a:r>
            <a:r>
              <a:rPr lang="en-GB" dirty="0"/>
              <a:t> </a:t>
            </a:r>
            <a:r>
              <a:rPr lang="en-GB" dirty="0" err="1"/>
              <a:t>JpaRepository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F76911-F589-44E9-8155-61F0472246BF}" type="slidenum">
              <a:rPr lang="pt-PT" smtClean="0"/>
              <a:pPr/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5534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Necessidade de suportar duas persistências</a:t>
            </a:r>
          </a:p>
          <a:p>
            <a:pPr lvl="1"/>
            <a:r>
              <a:rPr lang="pt-PT" dirty="0"/>
              <a:t>Em memória</a:t>
            </a:r>
          </a:p>
          <a:p>
            <a:pPr lvl="1"/>
            <a:r>
              <a:rPr lang="pt-PT" dirty="0"/>
              <a:t>BD usando ORM JPA</a:t>
            </a:r>
          </a:p>
          <a:p>
            <a:pPr lvl="1"/>
            <a:r>
              <a:rPr lang="pt-PT" dirty="0"/>
              <a:t>Esconder este pormenor do restante código</a:t>
            </a:r>
          </a:p>
          <a:p>
            <a:pPr marL="365760" lvl="1" indent="0">
              <a:buNone/>
            </a:pPr>
            <a:endParaRPr lang="pt-PT" dirty="0"/>
          </a:p>
          <a:p>
            <a:pPr lvl="1"/>
            <a:r>
              <a:rPr lang="pt-PT" dirty="0"/>
              <a:t>Vários repositórios (um por agregado)</a:t>
            </a:r>
          </a:p>
          <a:p>
            <a:pPr lvl="1"/>
            <a:r>
              <a:rPr lang="pt-PT" dirty="0"/>
              <a:t>Fábrica para os repositórios de acordo com tipo de persistência</a:t>
            </a:r>
          </a:p>
          <a:p>
            <a:pPr lvl="1"/>
            <a:endParaRPr lang="pt-PT" dirty="0"/>
          </a:p>
          <a:p>
            <a:pPr lvl="1"/>
            <a:r>
              <a:rPr lang="pt-PT" dirty="0"/>
              <a:t>Fábrica de fábricas para esconder lógica de criação de qual o tipo de persistência a usar</a:t>
            </a:r>
          </a:p>
          <a:p>
            <a:pPr lvl="1"/>
            <a:endParaRPr lang="pt-PT" dirty="0"/>
          </a:p>
          <a:p>
            <a:pPr lvl="1"/>
            <a:r>
              <a:rPr lang="pt-PT" dirty="0" err="1"/>
              <a:t>Abstract</a:t>
            </a:r>
            <a:r>
              <a:rPr lang="pt-PT" dirty="0"/>
              <a:t> </a:t>
            </a:r>
            <a:r>
              <a:rPr lang="pt-PT" dirty="0" err="1"/>
              <a:t>Factory</a:t>
            </a:r>
            <a:r>
              <a:rPr lang="pt-PT" dirty="0"/>
              <a:t> </a:t>
            </a:r>
            <a:r>
              <a:rPr lang="pt-PT" dirty="0" err="1"/>
              <a:t>Pattern</a:t>
            </a:r>
            <a:endParaRPr lang="pt-PT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F76911-F589-44E9-8155-61F0472246BF}" type="slidenum">
              <a:rPr lang="pt-PT" smtClean="0"/>
              <a:pPr/>
              <a:t>17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7350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Each repository is defined by an interface</a:t>
            </a:r>
            <a:r>
              <a:rPr lang="en-GB" baseline="0" dirty="0"/>
              <a:t> that is the well known contract to the rest of the application. We will have one repository per domain aggregate.</a:t>
            </a:r>
          </a:p>
          <a:p>
            <a:r>
              <a:rPr lang="en-GB" baseline="0" dirty="0"/>
              <a:t>Since we have interfaces we need a factory to hide the details of the concrete object to create. E.g., </a:t>
            </a:r>
            <a:r>
              <a:rPr lang="en-GB" baseline="0" dirty="0" err="1"/>
              <a:t>ExpenseTypeRepositoryFactory</a:t>
            </a:r>
            <a:endParaRPr lang="en-GB" baseline="0" dirty="0"/>
          </a:p>
          <a:p>
            <a:r>
              <a:rPr lang="en-GB" baseline="0" dirty="0"/>
              <a:t>Since we have several repositories we group their creation in a single factory (i.e., </a:t>
            </a:r>
            <a:r>
              <a:rPr lang="en-GB" baseline="0" dirty="0" err="1"/>
              <a:t>RepositoryFactory</a:t>
            </a:r>
            <a:r>
              <a:rPr lang="en-GB" baseline="0" dirty="0"/>
              <a:t>) to avoid duplication of code, i.e., each factory would have the decision code to choose which implementation to create. This way the </a:t>
            </a:r>
            <a:r>
              <a:rPr lang="en-GB" baseline="0" dirty="0" err="1"/>
              <a:t>JpaFactory</a:t>
            </a:r>
            <a:r>
              <a:rPr lang="en-GB" baseline="0" dirty="0"/>
              <a:t> knows it only creates </a:t>
            </a:r>
            <a:r>
              <a:rPr lang="en-GB" baseline="0" dirty="0" err="1"/>
              <a:t>Jpa</a:t>
            </a:r>
            <a:r>
              <a:rPr lang="en-GB" baseline="0"/>
              <a:t> implementations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F76911-F589-44E9-8155-61F0472246BF}" type="slidenum">
              <a:rPr lang="pt-PT" smtClean="0"/>
              <a:pPr/>
              <a:t>18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73046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F76911-F589-44E9-8155-61F0472246BF}" type="slidenum">
              <a:rPr lang="pt-PT" smtClean="0"/>
              <a:pPr/>
              <a:t>23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14675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Extrato</a:t>
            </a:r>
            <a:r>
              <a:rPr lang="en-GB" dirty="0"/>
              <a:t> </a:t>
            </a:r>
            <a:r>
              <a:rPr lang="en-GB" dirty="0" err="1"/>
              <a:t>faltam</a:t>
            </a:r>
            <a:r>
              <a:rPr lang="en-GB" dirty="0"/>
              <a:t> </a:t>
            </a:r>
            <a:r>
              <a:rPr lang="en-GB" dirty="0" err="1"/>
              <a:t>aqui</a:t>
            </a:r>
            <a:r>
              <a:rPr lang="en-GB" dirty="0"/>
              <a:t> </a:t>
            </a:r>
            <a:r>
              <a:rPr lang="en-GB" dirty="0" err="1"/>
              <a:t>alguns</a:t>
            </a:r>
            <a:r>
              <a:rPr lang="en-GB" dirty="0"/>
              <a:t> </a:t>
            </a:r>
            <a:r>
              <a:rPr lang="en-GB" dirty="0" err="1"/>
              <a:t>métodos</a:t>
            </a:r>
            <a:r>
              <a:rPr lang="en-GB" dirty="0"/>
              <a:t>. </a:t>
            </a:r>
            <a:r>
              <a:rPr lang="en-GB" dirty="0" err="1"/>
              <a:t>Devem</a:t>
            </a:r>
            <a:r>
              <a:rPr lang="en-GB" dirty="0"/>
              <a:t> </a:t>
            </a:r>
            <a:r>
              <a:rPr lang="en-GB" dirty="0" err="1"/>
              <a:t>ver</a:t>
            </a:r>
            <a:r>
              <a:rPr lang="en-GB" dirty="0"/>
              <a:t> o </a:t>
            </a:r>
            <a:r>
              <a:rPr lang="en-GB" dirty="0" err="1"/>
              <a:t>código</a:t>
            </a:r>
            <a:r>
              <a:rPr lang="en-GB" dirty="0"/>
              <a:t> </a:t>
            </a:r>
            <a:r>
              <a:rPr lang="en-GB" dirty="0" err="1"/>
              <a:t>fonte</a:t>
            </a:r>
            <a:r>
              <a:rPr lang="en-GB" dirty="0"/>
              <a:t> </a:t>
            </a:r>
            <a:r>
              <a:rPr lang="en-GB" dirty="0" err="1"/>
              <a:t>completo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F76911-F589-44E9-8155-61F0472246BF}" type="slidenum">
              <a:rPr lang="pt-PT" smtClean="0"/>
              <a:pPr/>
              <a:t>41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71195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8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222AE-4D74-4601-B435-B179E428ACD9}" type="datetime1">
              <a:rPr lang="pt-PT" smtClean="0"/>
              <a:pPr/>
              <a:t>12/06/2018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3B1D-A57E-46BD-9617-845A2C51AEF7}" type="datetime1">
              <a:rPr lang="pt-PT" smtClean="0"/>
              <a:pPr/>
              <a:t>12/06/2018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8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3B1D-A57E-46BD-9617-845A2C51AEF7}" type="datetime1">
              <a:rPr lang="pt-PT" smtClean="0"/>
              <a:pPr/>
              <a:t>12/06/2018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3B1D-A57E-46BD-9617-845A2C51AEF7}" type="datetime1">
              <a:rPr lang="pt-PT" smtClean="0"/>
              <a:pPr/>
              <a:t>12/06/2018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3B1D-A57E-46BD-9617-845A2C51AEF7}" type="datetime1">
              <a:rPr lang="pt-PT" smtClean="0"/>
              <a:pPr/>
              <a:t>12/06/2018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3B1D-A57E-46BD-9617-845A2C51AEF7}" type="datetime1">
              <a:rPr lang="pt-PT" smtClean="0"/>
              <a:pPr/>
              <a:t>12/06/2018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3B1D-A57E-46BD-9617-845A2C51AEF7}" type="datetime1">
              <a:rPr lang="pt-PT" smtClean="0"/>
              <a:pPr/>
              <a:t>12/06/2018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3B1D-A57E-46BD-9617-845A2C51AEF7}" type="datetime1">
              <a:rPr lang="pt-PT" smtClean="0"/>
              <a:pPr/>
              <a:t>12/06/2018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03643B1D-A57E-46BD-9617-845A2C51AEF7}" type="datetime1">
              <a:rPr lang="pt-PT" smtClean="0"/>
              <a:pPr/>
              <a:t>12/06/2018</a:t>
            </a:fld>
            <a:endParaRPr lang="pt-PT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024A9932-4E76-455F-8E1A-2CC10C89B014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3B1D-A57E-46BD-9617-845A2C51AEF7}" type="datetime1">
              <a:rPr lang="pt-PT" smtClean="0"/>
              <a:pPr/>
              <a:t>12/06/2018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8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43B1D-A57E-46BD-9617-845A2C51AEF7}" type="datetime1">
              <a:rPr lang="pt-PT" smtClean="0"/>
              <a:pPr/>
              <a:t>12/06/2018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‹#›</a:t>
            </a:fld>
            <a:endParaRPr lang="pt-PT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259044"/>
            <a:ext cx="9144000" cy="45719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304763"/>
          </a:xfrm>
          <a:prstGeom prst="rect">
            <a:avLst/>
          </a:prstGeom>
          <a:solidFill>
            <a:srgbClr val="8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1636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03643B1D-A57E-46BD-9617-845A2C51AEF7}" type="datetime1">
              <a:rPr lang="pt-PT" smtClean="0"/>
              <a:pPr/>
              <a:t>12/06/2018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024A9932-4E76-455F-8E1A-2CC10C89B014}" type="slidenum">
              <a:rPr lang="pt-PT" smtClean="0"/>
              <a:pPr/>
              <a:t>‹#›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ransition spd="med">
    <p:fade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sep.ipp.pt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EAPLI Framework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21942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it 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Standard application framework developed in the scope of the course unit “</a:t>
            </a:r>
            <a:r>
              <a:rPr lang="en-GB" dirty="0" err="1" smtClean="0"/>
              <a:t>Engenharia</a:t>
            </a:r>
            <a:r>
              <a:rPr lang="en-GB" dirty="0" smtClean="0"/>
              <a:t> de </a:t>
            </a:r>
            <a:r>
              <a:rPr lang="en-GB" dirty="0" err="1" smtClean="0"/>
              <a:t>Aplicações</a:t>
            </a:r>
            <a:r>
              <a:rPr lang="en-GB" dirty="0" smtClean="0"/>
              <a:t>” at </a:t>
            </a:r>
            <a:r>
              <a:rPr lang="en-GB" dirty="0" err="1" smtClean="0"/>
              <a:t>Instituto</a:t>
            </a:r>
            <a:r>
              <a:rPr lang="en-GB" dirty="0" smtClean="0"/>
              <a:t> Superior de </a:t>
            </a:r>
            <a:r>
              <a:rPr lang="en-GB" dirty="0" err="1" smtClean="0"/>
              <a:t>Engenharia</a:t>
            </a:r>
            <a:r>
              <a:rPr lang="en-GB" dirty="0" smtClean="0"/>
              <a:t> do Porto </a:t>
            </a:r>
            <a:r>
              <a:rPr lang="en-GB" dirty="0" smtClean="0">
                <a:hlinkClick r:id="rId2"/>
              </a:rPr>
              <a:t>http://www.isep.ipp.pt</a:t>
            </a:r>
            <a:r>
              <a:rPr lang="en-GB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81727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Components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Core</a:t>
            </a:r>
          </a:p>
          <a:p>
            <a:pPr lvl="1"/>
            <a:r>
              <a:rPr lang="en-GB" dirty="0"/>
              <a:t>Domain driven design</a:t>
            </a:r>
          </a:p>
          <a:p>
            <a:pPr lvl="1"/>
            <a:r>
              <a:rPr lang="en-GB" dirty="0" smtClean="0"/>
              <a:t>Persistence</a:t>
            </a:r>
          </a:p>
          <a:p>
            <a:pPr lvl="1"/>
            <a:r>
              <a:rPr lang="en-GB" dirty="0" smtClean="0"/>
              <a:t>Utilities</a:t>
            </a:r>
            <a:endParaRPr lang="en-GB" dirty="0"/>
          </a:p>
          <a:p>
            <a:pPr lvl="1"/>
            <a:r>
              <a:rPr lang="en-GB" dirty="0" smtClean="0"/>
              <a:t>Simple Console Presentation framework</a:t>
            </a:r>
          </a:p>
          <a:p>
            <a:r>
              <a:rPr lang="en-GB" dirty="0" smtClean="0"/>
              <a:t>Infrastructure </a:t>
            </a:r>
            <a:r>
              <a:rPr lang="en-GB" dirty="0" err="1" smtClean="0"/>
              <a:t>Authz</a:t>
            </a:r>
            <a:endParaRPr lang="en-GB" dirty="0" smtClean="0"/>
          </a:p>
          <a:p>
            <a:r>
              <a:rPr lang="en-GB" dirty="0"/>
              <a:t>Infrastructure </a:t>
            </a:r>
            <a:r>
              <a:rPr lang="en-GB" dirty="0" smtClean="0"/>
              <a:t>Pub/Sub</a:t>
            </a:r>
          </a:p>
          <a:p>
            <a:pPr lvl="1"/>
            <a:r>
              <a:rPr lang="en-GB" dirty="0" smtClean="0"/>
              <a:t>Event publishing and dispatching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05579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Dependencies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Apache Commons Logging</a:t>
            </a:r>
          </a:p>
          <a:p>
            <a:r>
              <a:rPr lang="en-GB" dirty="0" smtClean="0"/>
              <a:t>JPA</a:t>
            </a:r>
          </a:p>
          <a:p>
            <a:r>
              <a:rPr lang="en-GB" dirty="0" smtClean="0"/>
              <a:t>Spring Data JPA</a:t>
            </a:r>
          </a:p>
          <a:p>
            <a:r>
              <a:rPr lang="en-GB" dirty="0" smtClean="0"/>
              <a:t>Spring Framework dependency injection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7458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GB" dirty="0" smtClean="0"/>
              <a:t>ore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79007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DDD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Domain objects</a:t>
            </a:r>
          </a:p>
          <a:p>
            <a:pPr lvl="1"/>
            <a:r>
              <a:rPr lang="en-GB" dirty="0"/>
              <a:t>Money</a:t>
            </a:r>
          </a:p>
          <a:p>
            <a:pPr lvl="1"/>
            <a:r>
              <a:rPr lang="en-GB" dirty="0"/>
              <a:t>Range</a:t>
            </a:r>
          </a:p>
          <a:p>
            <a:pPr lvl="1"/>
            <a:r>
              <a:rPr lang="en-GB" dirty="0"/>
              <a:t>Time period</a:t>
            </a:r>
          </a:p>
          <a:p>
            <a:endParaRPr lang="en-GB" dirty="0" smtClean="0"/>
          </a:p>
          <a:p>
            <a:r>
              <a:rPr lang="en-GB" dirty="0" smtClean="0"/>
              <a:t>DDD </a:t>
            </a:r>
            <a:r>
              <a:rPr lang="en-GB" dirty="0"/>
              <a:t>pattern interfaces</a:t>
            </a:r>
          </a:p>
          <a:p>
            <a:pPr lvl="1"/>
            <a:r>
              <a:rPr lang="en-GB" dirty="0" err="1"/>
              <a:t>ValueObject</a:t>
            </a:r>
            <a:endParaRPr lang="en-GB" dirty="0"/>
          </a:p>
          <a:p>
            <a:pPr lvl="1"/>
            <a:r>
              <a:rPr lang="en-GB" dirty="0" err="1"/>
              <a:t>DomainEntity</a:t>
            </a:r>
            <a:endParaRPr lang="en-GB" dirty="0"/>
          </a:p>
          <a:p>
            <a:pPr lvl="1"/>
            <a:r>
              <a:rPr lang="en-GB" dirty="0" err="1"/>
              <a:t>AggregateRoot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6</a:t>
            </a:fld>
            <a:endParaRPr lang="pt-PT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817244"/>
            <a:ext cx="4419600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79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Standard patterns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Actions, </a:t>
            </a:r>
            <a:r>
              <a:rPr lang="en-GB" dirty="0" err="1" smtClean="0"/>
              <a:t>a.k.a</a:t>
            </a:r>
            <a:r>
              <a:rPr lang="en-GB" dirty="0" smtClean="0"/>
              <a:t> Command</a:t>
            </a:r>
          </a:p>
          <a:p>
            <a:r>
              <a:rPr lang="en-GB" dirty="0" smtClean="0"/>
              <a:t>Memento</a:t>
            </a:r>
          </a:p>
          <a:p>
            <a:r>
              <a:rPr lang="en-GB" dirty="0" smtClean="0"/>
              <a:t>Visitor</a:t>
            </a:r>
          </a:p>
          <a:p>
            <a:r>
              <a:rPr lang="en-GB" dirty="0" smtClean="0"/>
              <a:t>DTO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31379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Utilities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Console</a:t>
            </a:r>
          </a:p>
          <a:p>
            <a:pPr lvl="1"/>
            <a:r>
              <a:rPr lang="en-GB" dirty="0"/>
              <a:t>Helper console reading functions</a:t>
            </a:r>
          </a:p>
          <a:p>
            <a:r>
              <a:rPr lang="en-GB" dirty="0" err="1"/>
              <a:t>DateTime</a:t>
            </a:r>
            <a:endParaRPr lang="en-GB" dirty="0"/>
          </a:p>
          <a:p>
            <a:pPr lvl="1"/>
            <a:r>
              <a:rPr lang="en-GB" dirty="0"/>
              <a:t>Simplifies manipulation of dates and times thru java Calendar</a:t>
            </a:r>
          </a:p>
          <a:p>
            <a:r>
              <a:rPr lang="en-GB" dirty="0"/>
              <a:t>Files</a:t>
            </a:r>
          </a:p>
          <a:p>
            <a:pPr lvl="1"/>
            <a:r>
              <a:rPr lang="en-GB" dirty="0"/>
              <a:t>File manipulation helper</a:t>
            </a:r>
          </a:p>
          <a:p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dirty="0"/>
              <a:t>Math</a:t>
            </a:r>
          </a:p>
          <a:p>
            <a:pPr lvl="1"/>
            <a:r>
              <a:rPr lang="en-GB" dirty="0"/>
              <a:t>Sample math utility</a:t>
            </a:r>
          </a:p>
          <a:p>
            <a:r>
              <a:rPr lang="en-GB" dirty="0" smtClean="0"/>
              <a:t>Strings</a:t>
            </a:r>
            <a:endParaRPr lang="en-GB" dirty="0"/>
          </a:p>
          <a:p>
            <a:pPr lvl="1"/>
            <a:r>
              <a:rPr lang="en-GB" dirty="0"/>
              <a:t>String manipulation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9243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Presentation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9</a:t>
            </a:fld>
            <a:endParaRPr lang="pt-PT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853" y="-166127"/>
            <a:ext cx="4400550" cy="70008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40" y="1376772"/>
            <a:ext cx="3636404" cy="545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00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</a:t>
            </a:r>
            <a:r>
              <a:rPr lang="en-GB" dirty="0" smtClean="0"/>
              <a:t>resentation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10</a:t>
            </a:fld>
            <a:endParaRPr lang="pt-PT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05" y="1499769"/>
            <a:ext cx="7794190" cy="525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931580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11</a:t>
            </a:fld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229600" cy="1250950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29215"/>
          <a:stretch/>
        </p:blipFill>
        <p:spPr>
          <a:xfrm>
            <a:off x="793" y="0"/>
            <a:ext cx="9181020" cy="701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38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12</a:t>
            </a:fld>
            <a:endParaRPr lang="pt-PT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31875"/>
          <a:stretch/>
        </p:blipFill>
        <p:spPr>
          <a:xfrm>
            <a:off x="14869" y="12576"/>
            <a:ext cx="9129640" cy="725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20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13</a:t>
            </a:fld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229600" cy="1250950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4" y="68745"/>
            <a:ext cx="9088972" cy="6720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4559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</a:t>
            </a:r>
            <a:r>
              <a:rPr lang="en-GB" dirty="0" smtClean="0"/>
              <a:t>ore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Persistence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71246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Persistence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Persistence</a:t>
            </a:r>
          </a:p>
          <a:p>
            <a:pPr lvl="1"/>
            <a:r>
              <a:rPr lang="en-GB" dirty="0"/>
              <a:t>Repository interfaces</a:t>
            </a:r>
          </a:p>
          <a:p>
            <a:r>
              <a:rPr lang="en-GB" dirty="0"/>
              <a:t>Implementations</a:t>
            </a:r>
          </a:p>
          <a:p>
            <a:pPr lvl="1"/>
            <a:r>
              <a:rPr lang="en-GB" dirty="0"/>
              <a:t>JPA</a:t>
            </a:r>
          </a:p>
          <a:p>
            <a:pPr lvl="1"/>
            <a:r>
              <a:rPr lang="en-GB" dirty="0" err="1" smtClean="0"/>
              <a:t>InMemory</a:t>
            </a:r>
            <a:endParaRPr lang="en-GB" dirty="0" smtClean="0"/>
          </a:p>
          <a:p>
            <a:pPr lvl="1"/>
            <a:r>
              <a:rPr lang="en-GB" dirty="0" smtClean="0"/>
              <a:t>Spring Data JPA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15</a:t>
            </a:fld>
            <a:endParaRPr lang="pt-PT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385" y="1712366"/>
            <a:ext cx="4429125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572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Repositories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DataRepository</a:t>
            </a:r>
            <a:endParaRPr lang="en-GB" dirty="0"/>
          </a:p>
          <a:p>
            <a:r>
              <a:rPr lang="en-GB" dirty="0" err="1"/>
              <a:t>TransactionalContext</a:t>
            </a:r>
            <a:endParaRPr lang="en-GB" dirty="0"/>
          </a:p>
          <a:p>
            <a:endParaRPr lang="en-GB" dirty="0"/>
          </a:p>
          <a:p>
            <a:r>
              <a:rPr lang="en-GB" dirty="0"/>
              <a:t>Interfaces for describing repository functionalities and transactions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16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47766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Persistence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Controller needs to access the repositories</a:t>
            </a:r>
          </a:p>
          <a:p>
            <a:r>
              <a:rPr lang="en-GB" dirty="0"/>
              <a:t>But we have three repository implementations</a:t>
            </a:r>
          </a:p>
          <a:p>
            <a:pPr lvl="1"/>
            <a:r>
              <a:rPr lang="en-GB" dirty="0"/>
              <a:t>In memory</a:t>
            </a:r>
          </a:p>
          <a:p>
            <a:pPr lvl="1"/>
            <a:r>
              <a:rPr lang="en-GB" dirty="0"/>
              <a:t>Relational database thru JPA</a:t>
            </a:r>
          </a:p>
          <a:p>
            <a:pPr lvl="1"/>
            <a:r>
              <a:rPr lang="en-GB" dirty="0"/>
              <a:t>Relational database thru </a:t>
            </a:r>
            <a:r>
              <a:rPr lang="en-GB" dirty="0" err="1"/>
              <a:t>SpringData</a:t>
            </a:r>
            <a:endParaRPr lang="en-GB" dirty="0"/>
          </a:p>
          <a:p>
            <a:r>
              <a:rPr lang="en-GB" dirty="0"/>
              <a:t>Hide persistence details from rest of the code</a:t>
            </a:r>
          </a:p>
          <a:p>
            <a:pPr lvl="1"/>
            <a:r>
              <a:rPr lang="en-GB" dirty="0"/>
              <a:t>Interfaces</a:t>
            </a:r>
          </a:p>
          <a:p>
            <a:pPr lvl="1"/>
            <a:r>
              <a:rPr lang="en-GB" dirty="0" smtClean="0"/>
              <a:t>Dependency injection or Factories 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17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03766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18</a:t>
            </a:fld>
            <a:endParaRPr lang="pt-PT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60648"/>
            <a:ext cx="6912767" cy="633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602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Example</a:t>
            </a: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19</a:t>
            </a:fld>
            <a:endParaRPr lang="pt-PT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58928"/>
          <a:stretch/>
        </p:blipFill>
        <p:spPr>
          <a:xfrm>
            <a:off x="143508" y="1092401"/>
            <a:ext cx="8676964" cy="12600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08" y="2534438"/>
            <a:ext cx="8925985" cy="1987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53" y="4689140"/>
            <a:ext cx="8899668" cy="21095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1818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memory Repositories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InMemoryBaseRepository</a:t>
            </a:r>
            <a:endParaRPr lang="en-GB" dirty="0"/>
          </a:p>
          <a:p>
            <a:r>
              <a:rPr lang="en-GB" dirty="0" err="1"/>
              <a:t>InMemoryBaseRepositorywithLongPK</a:t>
            </a:r>
            <a:endParaRPr lang="en-GB" dirty="0"/>
          </a:p>
          <a:p>
            <a:endParaRPr lang="en-GB" dirty="0"/>
          </a:p>
          <a:p>
            <a:r>
              <a:rPr lang="en-GB" b="1" dirty="0"/>
              <a:t>For pedagogical testing purposes only!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20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46043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JPA Repositories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err="1"/>
              <a:t>JpaBaseRepository</a:t>
            </a:r>
            <a:endParaRPr lang="en-GB" dirty="0"/>
          </a:p>
          <a:p>
            <a:pPr lvl="1"/>
            <a:r>
              <a:rPr lang="en-GB" dirty="0"/>
              <a:t>Generic repository implementation that expects the entity manager factory to be injected by a container, e.g., web server</a:t>
            </a:r>
          </a:p>
          <a:p>
            <a:r>
              <a:rPr lang="en-GB" dirty="0" err="1"/>
              <a:t>JpaNotRunningInContainerBaseRepository</a:t>
            </a:r>
            <a:endParaRPr lang="en-GB" dirty="0"/>
          </a:p>
          <a:p>
            <a:pPr lvl="1"/>
            <a:r>
              <a:rPr lang="en-GB" dirty="0"/>
              <a:t>For scenarios where the code is not running in a container but transaction is managed by the outside, e.g., controller</a:t>
            </a:r>
          </a:p>
          <a:p>
            <a:r>
              <a:rPr lang="en-GB" dirty="0" err="1"/>
              <a:t>JpaTransactionalBaseRepository</a:t>
            </a:r>
            <a:endParaRPr lang="en-GB" dirty="0"/>
          </a:p>
          <a:p>
            <a:pPr lvl="1"/>
            <a:r>
              <a:rPr lang="en-GB" dirty="0"/>
              <a:t>For scenarios not running in a container but transactions are created and committed by each repository method; the connection is also closed automatically in each method.</a:t>
            </a:r>
          </a:p>
          <a:p>
            <a:r>
              <a:rPr lang="en-GB" dirty="0" err="1"/>
              <a:t>JpaAutoTxRepository</a:t>
            </a:r>
            <a:endParaRPr lang="en-GB" dirty="0"/>
          </a:p>
          <a:p>
            <a:pPr lvl="1"/>
            <a:r>
              <a:rPr lang="en-GB" dirty="0"/>
              <a:t>Dual behaviour to either have outside transactional control or explicit transaction in each method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21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49136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Spring Data JPA repositories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22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799033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23</a:t>
            </a:fld>
            <a:endParaRPr lang="pt-PT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077" y="0"/>
            <a:ext cx="3887924" cy="792500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79368" y="2312876"/>
            <a:ext cx="3125080" cy="1476164"/>
          </a:xfrm>
          <a:prstGeom prst="roundRect">
            <a:avLst/>
          </a:prstGeom>
          <a:solidFill>
            <a:srgbClr val="CC9900">
              <a:alpha val="20000"/>
            </a:srgb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ounded Rectangle 9"/>
          <p:cNvSpPr/>
          <p:nvPr/>
        </p:nvSpPr>
        <p:spPr>
          <a:xfrm>
            <a:off x="5446248" y="6013237"/>
            <a:ext cx="3125080" cy="548111"/>
          </a:xfrm>
          <a:prstGeom prst="roundRect">
            <a:avLst/>
          </a:prstGeom>
          <a:solidFill>
            <a:srgbClr val="CC9900">
              <a:alpha val="20000"/>
            </a:srgb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22" y="1863700"/>
            <a:ext cx="4856579" cy="40855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1144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applicationContext.xml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24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7614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applicationContext-persistence.xml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25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072795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Transaction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Preferably use a container and managed transaction context, e.g., spring</a:t>
            </a:r>
          </a:p>
          <a:p>
            <a:endParaRPr lang="en-GB" dirty="0"/>
          </a:p>
          <a:p>
            <a:r>
              <a:rPr lang="en-GB" dirty="0" smtClean="0"/>
              <a:t>Optionally control the transaction yourself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923292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Transaction control #1</a:t>
            </a:r>
            <a:endParaRPr lang="pt-P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b="1" dirty="0" smtClean="0"/>
              <a:t>Managed repositories</a:t>
            </a:r>
            <a:r>
              <a:rPr lang="pt-PT" dirty="0" smtClean="0"/>
              <a:t>, e.g., Spring </a:t>
            </a:r>
            <a:r>
              <a:rPr lang="pt-PT" dirty="0"/>
              <a:t>Framework</a:t>
            </a:r>
          </a:p>
          <a:p>
            <a:pPr lvl="1"/>
            <a:r>
              <a:rPr lang="pt-PT" dirty="0"/>
              <a:t>Spring will load the repositories</a:t>
            </a:r>
          </a:p>
          <a:p>
            <a:pPr lvl="1"/>
            <a:r>
              <a:rPr lang="pt-PT" dirty="0"/>
              <a:t>Spring will control the transactional context</a:t>
            </a:r>
          </a:p>
          <a:p>
            <a:pPr lvl="1"/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27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54409186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sz="2800" dirty="0"/>
              <a:t>All JPA repositories extend JpaBaseRepository to use spring transactional 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28</a:t>
            </a:fld>
            <a:endParaRPr lang="pt-PT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4" y="1808820"/>
            <a:ext cx="7019925" cy="1981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103" y="4293096"/>
            <a:ext cx="6105525" cy="1943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ight Arrow 7"/>
          <p:cNvSpPr/>
          <p:nvPr/>
        </p:nvSpPr>
        <p:spPr>
          <a:xfrm rot="11334279">
            <a:off x="4229963" y="3264185"/>
            <a:ext cx="68407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 rot="21438638">
            <a:off x="2480537" y="4561015"/>
            <a:ext cx="68407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76668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Spring Transactional control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29</a:t>
            </a:fld>
            <a:endParaRPr lang="pt-PT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" y="1529122"/>
            <a:ext cx="8753475" cy="1914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143" y="3633345"/>
            <a:ext cx="7172325" cy="3009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ight Arrow 6"/>
          <p:cNvSpPr/>
          <p:nvPr/>
        </p:nvSpPr>
        <p:spPr>
          <a:xfrm rot="20879346">
            <a:off x="1390125" y="4816307"/>
            <a:ext cx="68407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6081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SpringData</a:t>
            </a:r>
            <a:r>
              <a:rPr lang="en-GB" dirty="0"/>
              <a:t> repositories (1)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30</a:t>
            </a:fld>
            <a:endParaRPr lang="pt-PT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4" y="1670875"/>
            <a:ext cx="7677150" cy="1514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475" y="3861048"/>
            <a:ext cx="7172325" cy="2324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ight Arrow 6"/>
          <p:cNvSpPr/>
          <p:nvPr/>
        </p:nvSpPr>
        <p:spPr>
          <a:xfrm rot="20879346">
            <a:off x="1547353" y="4289113"/>
            <a:ext cx="68407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062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SpringData</a:t>
            </a:r>
            <a:r>
              <a:rPr lang="en-GB" dirty="0"/>
              <a:t> repositories (2)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31</a:t>
            </a:fld>
            <a:endParaRPr lang="pt-PT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2" y="1458072"/>
            <a:ext cx="7153275" cy="5010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ight Arrow 6"/>
          <p:cNvSpPr/>
          <p:nvPr/>
        </p:nvSpPr>
        <p:spPr>
          <a:xfrm rot="11911389">
            <a:off x="4589232" y="5222389"/>
            <a:ext cx="68407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850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Transaction control #2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smtClean="0"/>
              <a:t>Control the transaction yourself </a:t>
            </a:r>
            <a:r>
              <a:rPr lang="en-GB" dirty="0" smtClean="0"/>
              <a:t> using helper classes in the persistence package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32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31459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Full transaction control by the repository</a:t>
            </a: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33</a:t>
            </a:fld>
            <a:endParaRPr lang="pt-PT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9120"/>
            <a:ext cx="9001125" cy="2133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5" y="3737609"/>
            <a:ext cx="7534275" cy="2876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21140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Transaction control outside of the repository (1)</a:t>
            </a:r>
            <a:endParaRPr lang="pt-P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Accepting a signup request needs to</a:t>
            </a:r>
          </a:p>
          <a:p>
            <a:pPr lvl="1"/>
            <a:r>
              <a:rPr lang="pt-PT" dirty="0"/>
              <a:t>Create a system user</a:t>
            </a:r>
          </a:p>
          <a:p>
            <a:pPr lvl="1"/>
            <a:r>
              <a:rPr lang="pt-PT" dirty="0"/>
              <a:t>Create a cafeteria user</a:t>
            </a:r>
          </a:p>
          <a:p>
            <a:pPr lvl="1"/>
            <a:r>
              <a:rPr lang="pt-PT" dirty="0"/>
              <a:t>Change the status of the signup request</a:t>
            </a:r>
          </a:p>
          <a:p>
            <a:r>
              <a:rPr lang="pt-PT" dirty="0"/>
              <a:t>Three different aggregates!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34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87722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Transaction control (2): use </a:t>
            </a:r>
            <a:r>
              <a:rPr lang="en-GB" dirty="0" err="1"/>
              <a:t>JpaAutoTxRepository</a:t>
            </a: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35</a:t>
            </a:fld>
            <a:endParaRPr lang="pt-PT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50" y="1572653"/>
            <a:ext cx="8429625" cy="1685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950354"/>
            <a:ext cx="8934450" cy="4514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4914899"/>
            <a:ext cx="9001125" cy="3124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19234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Transaction control (3): explicit control by the controller</a:t>
            </a: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36</a:t>
            </a:fld>
            <a:endParaRPr lang="pt-PT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" y="2128837"/>
            <a:ext cx="8810625" cy="26003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27996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Transaction control (3): explicit control by the controller</a:t>
            </a:r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37</a:t>
            </a:fld>
            <a:endParaRPr lang="pt-PT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1506276"/>
            <a:ext cx="9058275" cy="4867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59501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Infrastructure </a:t>
            </a:r>
            <a:r>
              <a:rPr lang="en-GB" dirty="0" err="1" smtClean="0"/>
              <a:t>Authz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38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89141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39</a:t>
            </a:fld>
            <a:endParaRPr lang="pt-PT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24467"/>
          <a:stretch/>
        </p:blipFill>
        <p:spPr>
          <a:xfrm>
            <a:off x="5662435" y="383648"/>
            <a:ext cx="3554081" cy="6467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5" y="1412777"/>
            <a:ext cx="5951789" cy="543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994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Domain invariants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118872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</a:p>
          <a:p>
            <a:pPr marL="118872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void ensurePasswordHasAtLeastOneDigitAnd6CharactersLong() {</a:t>
            </a:r>
          </a:p>
          <a:p>
            <a:pPr marL="118872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new Password("abcdefgh1");</a:t>
            </a:r>
          </a:p>
          <a:p>
            <a:pPr marL="118872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18872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@Test(expected =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IllegalArgumentException.class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118872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void ensurePasswordsSmallerThan6CharactersAreNotAllowed() {</a:t>
            </a:r>
          </a:p>
          <a:p>
            <a:pPr marL="118872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new Password("ab1c");</a:t>
            </a:r>
          </a:p>
          <a:p>
            <a:pPr marL="118872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18872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@Test(expected =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IllegalArgumentException.class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118872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ensurePasswordsWithoutDigitsAreNotAllowed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118872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new Password("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abcdefgh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marL="118872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40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683122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118872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Password {</a:t>
            </a:r>
          </a:p>
          <a:p>
            <a:pPr marL="118872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118872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Password(String password) {</a:t>
            </a:r>
          </a:p>
          <a:p>
            <a:pPr marL="118872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if (!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meetsMinimumRequirements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(password)) {</a:t>
            </a:r>
          </a:p>
          <a:p>
            <a:pPr marL="118872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    throw new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IllegalStateException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118872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118872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thePassword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password;</a:t>
            </a:r>
          </a:p>
          <a:p>
            <a:pPr marL="118872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18872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meetsMinimumRequirements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password) {</a:t>
            </a:r>
          </a:p>
          <a:p>
            <a:pPr marL="118872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if (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Strings.isNullOrEmpty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(password)</a:t>
            </a:r>
          </a:p>
          <a:p>
            <a:pPr marL="118872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||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password.length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 &lt; 6)</a:t>
            </a:r>
          </a:p>
          <a:p>
            <a:pPr marL="118872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|| !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Strings.containsDigit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(password)) </a:t>
            </a:r>
          </a:p>
          <a:p>
            <a:pPr marL="118872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118872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    return false;</a:t>
            </a:r>
          </a:p>
          <a:p>
            <a:pPr marL="118872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118872" indent="0">
              <a:buNone/>
            </a:pPr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true;</a:t>
            </a:r>
          </a:p>
          <a:p>
            <a:pPr marL="118872" indent="0"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41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8134332"/>
      </p:ext>
    </p:extLst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Infrastructure Pub/Sub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42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77223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43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091329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Abstract service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4829" y="1774825"/>
            <a:ext cx="5794342" cy="46259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44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839945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 Process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3950" y="1958975"/>
            <a:ext cx="6896100" cy="42576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45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971916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Client code uses </a:t>
            </a:r>
            <a:r>
              <a:rPr lang="en-GB" dirty="0" err="1" smtClean="0"/>
              <a:t>InProcessEventPublisher</a:t>
            </a:r>
            <a:r>
              <a:rPr lang="en-GB" dirty="0" smtClean="0"/>
              <a:t> or </a:t>
            </a:r>
            <a:r>
              <a:rPr lang="en-GB" dirty="0" err="1" smtClean="0"/>
              <a:t>InProcessEventDispatcher</a:t>
            </a:r>
            <a:r>
              <a:rPr lang="en-GB" dirty="0" smtClean="0"/>
              <a:t> via static instance() method or via dependency injection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46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8456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47</a:t>
            </a:fld>
            <a:endParaRPr lang="pt-PT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571500" y="-41275"/>
            <a:ext cx="8572500" cy="68992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8620"/>
            <a:ext cx="8229600" cy="1252538"/>
          </a:xfrm>
        </p:spPr>
        <p:txBody>
          <a:bodyPr/>
          <a:lstStyle/>
          <a:p>
            <a:r>
              <a:rPr lang="en-GB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Simple Persistent</a:t>
            </a:r>
            <a:endParaRPr lang="en-US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41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Simple Persistent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Use only via dependency injection</a:t>
            </a:r>
          </a:p>
          <a:p>
            <a:r>
              <a:rPr lang="en-GB" dirty="0" smtClean="0"/>
              <a:t>Domain entities must be registered in persistence.xml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48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62552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49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376542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Build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Maven</a:t>
            </a:r>
          </a:p>
          <a:p>
            <a:pPr lvl="1"/>
            <a:r>
              <a:rPr lang="en-GB" dirty="0"/>
              <a:t>Dependency manager</a:t>
            </a:r>
          </a:p>
          <a:p>
            <a:pPr lvl="1"/>
            <a:r>
              <a:rPr lang="en-GB" dirty="0" err="1"/>
              <a:t>Artifact</a:t>
            </a:r>
            <a:r>
              <a:rPr lang="en-GB" dirty="0"/>
              <a:t> (jar) repository </a:t>
            </a:r>
          </a:p>
          <a:p>
            <a:pPr lvl="1"/>
            <a:r>
              <a:rPr lang="en-GB" dirty="0"/>
              <a:t>Build automation</a:t>
            </a:r>
          </a:p>
          <a:p>
            <a:pPr lvl="1"/>
            <a:r>
              <a:rPr lang="en-GB" dirty="0"/>
              <a:t>Other tasks, e.g., deploy, run</a:t>
            </a:r>
          </a:p>
          <a:p>
            <a:r>
              <a:rPr lang="en-GB" dirty="0"/>
              <a:t>Works for Eclipse, </a:t>
            </a:r>
            <a:r>
              <a:rPr lang="en-GB" dirty="0" err="1"/>
              <a:t>InteliJ</a:t>
            </a:r>
            <a:r>
              <a:rPr lang="en-GB" dirty="0"/>
              <a:t>, </a:t>
            </a:r>
            <a:r>
              <a:rPr lang="en-GB" dirty="0" err="1"/>
              <a:t>Netbeans</a:t>
            </a:r>
            <a:endParaRPr lang="en-GB" dirty="0"/>
          </a:p>
          <a:p>
            <a:r>
              <a:rPr lang="en-GB" dirty="0"/>
              <a:t>Pom.xml</a:t>
            </a:r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50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788637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51</a:t>
            </a:fld>
            <a:endParaRPr lang="pt-PT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" y="-7414"/>
            <a:ext cx="13247440" cy="745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3705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A9932-4E76-455F-8E1A-2CC10C89B014}" type="slidenum">
              <a:rPr lang="pt-PT" smtClean="0"/>
              <a:pPr/>
              <a:t>52</a:t>
            </a:fld>
            <a:endParaRPr lang="pt-PT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" y="0"/>
            <a:ext cx="12752738" cy="717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8304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y ISEP (Paulo Sousa)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my ISEP (Paulo Sousa)</Template>
  <TotalTime>27446</TotalTime>
  <Words>875</Words>
  <Application>Microsoft Office PowerPoint</Application>
  <PresentationFormat>On-screen Show (4:3)</PresentationFormat>
  <Paragraphs>256</Paragraphs>
  <Slides>52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0" baseType="lpstr">
      <vt:lpstr>Arial</vt:lpstr>
      <vt:lpstr>Calibri</vt:lpstr>
      <vt:lpstr>Corbel</vt:lpstr>
      <vt:lpstr>Courier New</vt:lpstr>
      <vt:lpstr>Wingdings</vt:lpstr>
      <vt:lpstr>Wingdings 2</vt:lpstr>
      <vt:lpstr>Wingdings 3</vt:lpstr>
      <vt:lpstr>my ISEP (Paulo Sousa)</vt:lpstr>
      <vt:lpstr>EAPLI Framework</vt:lpstr>
      <vt:lpstr>What it is</vt:lpstr>
      <vt:lpstr>Components </vt:lpstr>
      <vt:lpstr>Dependencies</vt:lpstr>
      <vt:lpstr>Core</vt:lpstr>
      <vt:lpstr>DDD</vt:lpstr>
      <vt:lpstr>Standard patterns</vt:lpstr>
      <vt:lpstr>Utilities</vt:lpstr>
      <vt:lpstr>Presentation</vt:lpstr>
      <vt:lpstr>Presentation</vt:lpstr>
      <vt:lpstr>PowerPoint Presentation</vt:lpstr>
      <vt:lpstr>PowerPoint Presentation</vt:lpstr>
      <vt:lpstr>PowerPoint Presentation</vt:lpstr>
      <vt:lpstr>Core</vt:lpstr>
      <vt:lpstr>Persistence</vt:lpstr>
      <vt:lpstr>Repositories</vt:lpstr>
      <vt:lpstr>Persistence</vt:lpstr>
      <vt:lpstr>PowerPoint Presentation</vt:lpstr>
      <vt:lpstr>Example</vt:lpstr>
      <vt:lpstr>In memory Repositories</vt:lpstr>
      <vt:lpstr>JPA Repositories</vt:lpstr>
      <vt:lpstr>Spring Data JPA repositories</vt:lpstr>
      <vt:lpstr>Resources </vt:lpstr>
      <vt:lpstr>applicationContext.xml</vt:lpstr>
      <vt:lpstr>applicationContext-persistence.xml</vt:lpstr>
      <vt:lpstr>Transaction control</vt:lpstr>
      <vt:lpstr>Transaction control #1</vt:lpstr>
      <vt:lpstr>All JPA repositories extend JpaBaseRepository to use spring transactional control</vt:lpstr>
      <vt:lpstr>Spring Transactional control</vt:lpstr>
      <vt:lpstr>SpringData repositories (1)</vt:lpstr>
      <vt:lpstr>SpringData repositories (2)</vt:lpstr>
      <vt:lpstr>Transaction control #2</vt:lpstr>
      <vt:lpstr>Full transaction control by the repository</vt:lpstr>
      <vt:lpstr>Transaction control outside of the repository (1)</vt:lpstr>
      <vt:lpstr>Transaction control (2): use JpaAutoTxRepository</vt:lpstr>
      <vt:lpstr>Transaction control (3): explicit control by the controller</vt:lpstr>
      <vt:lpstr>Transaction control (3): explicit control by the controller</vt:lpstr>
      <vt:lpstr>Infrastructure Authz</vt:lpstr>
      <vt:lpstr>User model</vt:lpstr>
      <vt:lpstr>Domain invariants</vt:lpstr>
      <vt:lpstr>Domain</vt:lpstr>
      <vt:lpstr>Infrastructure Pub/Sub</vt:lpstr>
      <vt:lpstr>PowerPoint Presentation</vt:lpstr>
      <vt:lpstr>Abstract service</vt:lpstr>
      <vt:lpstr>In Process</vt:lpstr>
      <vt:lpstr>In Process</vt:lpstr>
      <vt:lpstr>Simple Persistent</vt:lpstr>
      <vt:lpstr>Simple Persistent</vt:lpstr>
      <vt:lpstr>PowerPoint Presentation</vt:lpstr>
      <vt:lpstr>Build</vt:lpstr>
      <vt:lpstr>PowerPoint Presentation</vt:lpstr>
      <vt:lpstr>Build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Base PL</dc:title>
  <dc:creator>PAG@isep.ipp.pt;nmb@isep.ipp.pt</dc:creator>
  <cp:keywords>EAPLI</cp:keywords>
  <cp:lastModifiedBy>Paulo Gandra de Sousa</cp:lastModifiedBy>
  <cp:revision>1711</cp:revision>
  <dcterms:created xsi:type="dcterms:W3CDTF">2009-02-23T00:15:06Z</dcterms:created>
  <dcterms:modified xsi:type="dcterms:W3CDTF">2018-06-12T18:44:33Z</dcterms:modified>
</cp:coreProperties>
</file>